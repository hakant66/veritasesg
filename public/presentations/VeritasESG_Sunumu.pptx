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s/slide3.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3.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lang="en-GB" sz="1800" b="0" u="none" strike="noStrike">
                <a:solidFill>
                  <a:schemeClr val="dk1"/>
                </a:solidFill>
                <a:effectLst/>
                <a:uFillTx/>
                <a:latin typeface="Calibri"/>
              </a:rPr>
              <a:t>Click </a:t>
            </a:r>
            <a:r>
              <a:rPr lang="en-GB" sz="1800" b="0" u="none" strike="noStrike">
                <a:solidFill>
                  <a:schemeClr val="dk1"/>
                </a:solidFill>
                <a:effectLst/>
                <a:uFillTx/>
                <a:latin typeface="Calibri"/>
              </a:rPr>
              <a:t>to </a:t>
            </a:r>
            <a:r>
              <a:rPr lang="en-GB" sz="1800" b="0" u="none" strike="noStrike">
                <a:solidFill>
                  <a:schemeClr val="dk1"/>
                </a:solidFill>
                <a:effectLst/>
                <a:uFillTx/>
                <a:latin typeface="Calibri"/>
              </a:rPr>
              <a:t>move </a:t>
            </a:r>
            <a:r>
              <a:rPr lang="en-GB" sz="1800" b="0" u="none" strike="noStrike">
                <a:solidFill>
                  <a:schemeClr val="dk1"/>
                </a:solidFill>
                <a:effectLst/>
                <a:uFillTx/>
                <a:latin typeface="Calibri"/>
              </a:rPr>
              <a:t>the </a:t>
            </a:r>
            <a:r>
              <a:rPr lang="en-GB" sz="1800" b="0" u="none" strike="noStrike">
                <a:solidFill>
                  <a:schemeClr val="dk1"/>
                </a:solidFill>
                <a:effectLst/>
                <a:uFillTx/>
                <a:latin typeface="Calibri"/>
              </a:rPr>
              <a:t>slide</a:t>
            </a:r>
            <a:endParaRPr lang="en-GB"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GB" sz="2000" b="0" u="none" strike="noStrike">
                <a:solidFill>
                  <a:srgbClr val="000000"/>
                </a:solidFill>
                <a:effectLst/>
                <a:uFillTx/>
                <a:latin typeface="Arial"/>
              </a:rPr>
              <a:t>Click to edit the notes' format</a:t>
            </a:r>
            <a:endParaRPr lang="en-GB"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lang="en-GB" sz="1400" b="0" u="none" strike="noStrike">
                <a:solidFill>
                  <a:srgbClr val="000000"/>
                </a:solidFill>
                <a:effectLst/>
                <a:uFillTx/>
                <a:latin typeface="Times New Roman"/>
              </a:defRPr>
            </a:lvl1pPr>
          </a:lstStyle>
          <a:p>
            <a:pPr indent="0">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C3BC596D-241A-42BB-9875-95E083E24A43}" type="slidenum">
              <a:rPr lang="en-GB" sz="1400" b="0" u="none" strike="noStrike">
                <a:solidFill>
                  <a:srgbClr val="000000"/>
                </a:solidFill>
                <a:effectLst/>
                <a:uFillTx/>
                <a:latin typeface="Times New Roman"/>
              </a:rPr>
              <a:t>1</a:t>
            </a:fld>
            <a:endParaRPr lang="en-GB"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685800" y="1143000"/>
            <a:ext cx="5486040" cy="3085920"/>
          </a:xfrm>
          <a:prstGeom prst="rect">
            <a:avLst/>
          </a:prstGeom>
          <a:ln w="0">
            <a:noFill/>
          </a:ln>
        </p:spPr>
      </p:sp>
      <p:sp>
        <p:nvSpPr>
          <p:cNvPr id="34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GB" sz="1800" b="0" u="none" strike="noStrike">
              <a:solidFill>
                <a:srgbClr val="000000"/>
              </a:solidFill>
              <a:effectLst/>
              <a:uFillTx/>
              <a:latin typeface="Arial"/>
            </a:endParaRPr>
          </a:p>
        </p:txBody>
      </p:sp>
      <p:sp>
        <p:nvSpPr>
          <p:cNvPr id="350"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7D1C90-0A50-40A7-ADFF-BDE7D80B2840}"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sldImg"/>
          </p:nvPr>
        </p:nvSpPr>
        <p:spPr>
          <a:xfrm>
            <a:off x="685800" y="1143000"/>
            <a:ext cx="5486040" cy="3085920"/>
          </a:xfrm>
          <a:prstGeom prst="rect">
            <a:avLst/>
          </a:prstGeom>
          <a:ln w="0">
            <a:noFill/>
          </a:ln>
        </p:spPr>
      </p:sp>
      <p:sp>
        <p:nvSpPr>
          <p:cNvPr id="35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GB" sz="1800" b="0" u="none" strike="noStrike">
              <a:solidFill>
                <a:srgbClr val="000000"/>
              </a:solidFill>
              <a:effectLst/>
              <a:uFillTx/>
              <a:latin typeface="Arial"/>
            </a:endParaRPr>
          </a:p>
        </p:txBody>
      </p:sp>
      <p:sp>
        <p:nvSpPr>
          <p:cNvPr id="353"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FBE5738-B96B-40C2-9587-F048960C9408}"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685800" y="1143000"/>
            <a:ext cx="5486040" cy="3085920"/>
          </a:xfrm>
          <a:prstGeom prst="rect">
            <a:avLst/>
          </a:prstGeom>
          <a:ln w="0">
            <a:noFill/>
          </a:ln>
        </p:spPr>
      </p:sp>
      <p:sp>
        <p:nvSpPr>
          <p:cNvPr id="35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GB" sz="1800" b="0" u="none" strike="noStrike">
              <a:solidFill>
                <a:srgbClr val="000000"/>
              </a:solidFill>
              <a:effectLst/>
              <a:uFillTx/>
              <a:latin typeface="Arial"/>
            </a:endParaRPr>
          </a:p>
        </p:txBody>
      </p:sp>
      <p:sp>
        <p:nvSpPr>
          <p:cNvPr id="356"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9DA369C-8482-42F1-9F91-6395C0283426}"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685800" y="1143000"/>
            <a:ext cx="5486040" cy="3085920"/>
          </a:xfrm>
          <a:prstGeom prst="rect">
            <a:avLst/>
          </a:prstGeom>
          <a:ln w="0">
            <a:noFill/>
          </a:ln>
        </p:spPr>
      </p:sp>
      <p:sp>
        <p:nvSpPr>
          <p:cNvPr id="35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GB" sz="1800" b="0" u="none" strike="noStrike">
              <a:solidFill>
                <a:srgbClr val="000000"/>
              </a:solidFill>
              <a:effectLst/>
              <a:uFillTx/>
              <a:latin typeface="Arial"/>
            </a:endParaRPr>
          </a:p>
        </p:txBody>
      </p:sp>
      <p:sp>
        <p:nvSpPr>
          <p:cNvPr id="359"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4E8997F-933E-462C-9777-B65737441476}"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685800" y="1143000"/>
            <a:ext cx="5486040" cy="3085920"/>
          </a:xfrm>
          <a:prstGeom prst="rect">
            <a:avLst/>
          </a:prstGeom>
          <a:ln w="0">
            <a:noFill/>
          </a:ln>
        </p:spPr>
      </p:sp>
      <p:sp>
        <p:nvSpPr>
          <p:cNvPr id="36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GB" sz="1800" b="0" u="none" strike="noStrike">
              <a:solidFill>
                <a:srgbClr val="000000"/>
              </a:solidFill>
              <a:effectLst/>
              <a:uFillTx/>
              <a:latin typeface="Arial"/>
            </a:endParaRPr>
          </a:p>
        </p:txBody>
      </p:sp>
      <p:sp>
        <p:nvSpPr>
          <p:cNvPr id="362"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0FA7974-67C0-4E04-895D-1064939DF0E7}"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685800" y="1143000"/>
            <a:ext cx="5486040" cy="3085920"/>
          </a:xfrm>
          <a:prstGeom prst="rect">
            <a:avLst/>
          </a:prstGeom>
          <a:ln w="0">
            <a:noFill/>
          </a:ln>
        </p:spPr>
      </p:sp>
      <p:sp>
        <p:nvSpPr>
          <p:cNvPr id="36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GB" sz="1800" b="0" u="none" strike="noStrike">
              <a:solidFill>
                <a:srgbClr val="000000"/>
              </a:solidFill>
              <a:effectLst/>
              <a:uFillTx/>
              <a:latin typeface="Arial"/>
            </a:endParaRPr>
          </a:p>
        </p:txBody>
      </p:sp>
      <p:sp>
        <p:nvSpPr>
          <p:cNvPr id="365"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E6CDF9-BB0A-4D1B-AD58-A45B496045D2}"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685800" y="1143000"/>
            <a:ext cx="5486040" cy="3085920"/>
          </a:xfrm>
          <a:prstGeom prst="rect">
            <a:avLst/>
          </a:prstGeom>
          <a:ln w="0">
            <a:noFill/>
          </a:ln>
        </p:spPr>
      </p:sp>
      <p:sp>
        <p:nvSpPr>
          <p:cNvPr id="36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GB" sz="1800" b="0" u="none" strike="noStrike">
              <a:solidFill>
                <a:srgbClr val="000000"/>
              </a:solidFill>
              <a:effectLst/>
              <a:uFillTx/>
              <a:latin typeface="Arial"/>
            </a:endParaRPr>
          </a:p>
        </p:txBody>
      </p:sp>
      <p:sp>
        <p:nvSpPr>
          <p:cNvPr id="368"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AA3A433-E222-4F8A-879C-635B7A109AC3}"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685800" y="1143000"/>
            <a:ext cx="5486040" cy="3085920"/>
          </a:xfrm>
          <a:prstGeom prst="rect">
            <a:avLst/>
          </a:prstGeom>
          <a:ln w="0">
            <a:noFill/>
          </a:ln>
        </p:spPr>
      </p:sp>
      <p:sp>
        <p:nvSpPr>
          <p:cNvPr id="37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GB" sz="1800" b="0" u="none" strike="noStrike">
              <a:solidFill>
                <a:srgbClr val="000000"/>
              </a:solidFill>
              <a:effectLst/>
              <a:uFillTx/>
              <a:latin typeface="Arial"/>
            </a:endParaRPr>
          </a:p>
        </p:txBody>
      </p:sp>
      <p:sp>
        <p:nvSpPr>
          <p:cNvPr id="371"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4B97353-58BB-44E4-B2DC-85656B636D87}"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685800" y="1143000"/>
            <a:ext cx="5486040" cy="3085920"/>
          </a:xfrm>
          <a:prstGeom prst="rect">
            <a:avLst/>
          </a:prstGeom>
          <a:ln w="0">
            <a:noFill/>
          </a:ln>
        </p:spPr>
      </p:sp>
      <p:sp>
        <p:nvSpPr>
          <p:cNvPr id="37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GB" sz="1800" b="0" u="none" strike="noStrike">
              <a:solidFill>
                <a:srgbClr val="000000"/>
              </a:solidFill>
              <a:effectLst/>
              <a:uFillTx/>
              <a:latin typeface="Arial"/>
            </a:endParaRPr>
          </a:p>
        </p:txBody>
      </p:sp>
      <p:sp>
        <p:nvSpPr>
          <p:cNvPr id="374"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0FF3280-7B21-4E8C-95C8-EAF986E15F48}"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685800" y="1143000"/>
            <a:ext cx="5486040" cy="3085920"/>
          </a:xfrm>
          <a:prstGeom prst="rect">
            <a:avLst/>
          </a:prstGeom>
          <a:ln w="0">
            <a:noFill/>
          </a:ln>
        </p:spPr>
      </p:sp>
      <p:sp>
        <p:nvSpPr>
          <p:cNvPr id="37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GB" sz="1800" b="0" u="none" strike="noStrike">
              <a:solidFill>
                <a:srgbClr val="000000"/>
              </a:solidFill>
              <a:effectLst/>
              <a:uFillTx/>
              <a:latin typeface="Arial"/>
            </a:endParaRPr>
          </a:p>
        </p:txBody>
      </p:sp>
      <p:sp>
        <p:nvSpPr>
          <p:cNvPr id="377"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09C4045-22C9-4109-883F-B59B83208815}"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685800" y="1143000"/>
            <a:ext cx="5486040" cy="3085920"/>
          </a:xfrm>
          <a:prstGeom prst="rect">
            <a:avLst/>
          </a:prstGeom>
          <a:ln w="0">
            <a:noFill/>
          </a:ln>
        </p:spPr>
      </p:sp>
      <p:sp>
        <p:nvSpPr>
          <p:cNvPr id="37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GB" sz="1800" b="0" u="none" strike="noStrike">
              <a:solidFill>
                <a:srgbClr val="000000"/>
              </a:solidFill>
              <a:effectLst/>
              <a:uFillTx/>
              <a:latin typeface="Arial"/>
            </a:endParaRPr>
          </a:p>
        </p:txBody>
      </p:sp>
      <p:sp>
        <p:nvSpPr>
          <p:cNvPr id="380"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E2CB20-D90D-4E8B-B620-20A109BB9444}"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685800" y="1143000"/>
            <a:ext cx="5486040" cy="3085920"/>
          </a:xfrm>
          <a:prstGeom prst="rect">
            <a:avLst/>
          </a:prstGeom>
          <a:ln w="0">
            <a:noFill/>
          </a:ln>
        </p:spPr>
      </p:sp>
      <p:sp>
        <p:nvSpPr>
          <p:cNvPr id="38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GB" sz="1800" b="0" u="none" strike="noStrike">
              <a:solidFill>
                <a:srgbClr val="000000"/>
              </a:solidFill>
              <a:effectLst/>
              <a:uFillTx/>
              <a:latin typeface="Arial"/>
            </a:endParaRPr>
          </a:p>
        </p:txBody>
      </p:sp>
      <p:sp>
        <p:nvSpPr>
          <p:cNvPr id="383"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D3956FC-8349-4267-B699-9B6783AE891B}"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685800" y="1143000"/>
            <a:ext cx="5486040" cy="3085920"/>
          </a:xfrm>
          <a:prstGeom prst="rect">
            <a:avLst/>
          </a:prstGeom>
          <a:ln w="0">
            <a:noFill/>
          </a:ln>
        </p:spPr>
      </p:sp>
      <p:sp>
        <p:nvSpPr>
          <p:cNvPr id="3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GB" sz="1800" b="0" u="none" strike="noStrike">
              <a:solidFill>
                <a:srgbClr val="000000"/>
              </a:solidFill>
              <a:effectLst/>
              <a:uFillTx/>
              <a:latin typeface="Arial"/>
            </a:endParaRPr>
          </a:p>
        </p:txBody>
      </p:sp>
      <p:sp>
        <p:nvSpPr>
          <p:cNvPr id="386"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956939E-38F2-4129-A417-0DC6C9D6BCE7}"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lang="en-GB" sz="1800" b="0" u="none" strike="noStrike">
                <a:solidFill>
                  <a:schemeClr val="dk1"/>
                </a:solidFill>
                <a:effectLst/>
                <a:uFillTx/>
                <a:latin typeface="Calibri"/>
              </a:rPr>
              <a:t>Click to edit the title text format</a:t>
            </a:r>
            <a:endParaRPr lang="en-GB"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GB" sz="3200" b="0" u="none" strike="noStrike">
                <a:solidFill>
                  <a:schemeClr val="dk1"/>
                </a:solidFill>
                <a:effectLst/>
                <a:uFillTx/>
                <a:latin typeface="Calibri"/>
              </a:rPr>
              <a:t>Click to edit the outline text format</a:t>
            </a:r>
            <a:endParaRPr lang="en-GB"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en-GB" sz="2400" b="0" u="none" strike="noStrike">
                <a:solidFill>
                  <a:schemeClr val="dk1"/>
                </a:solidFill>
                <a:effectLst/>
                <a:uFillTx/>
                <a:latin typeface="Calibri"/>
              </a:rPr>
              <a:t>Second Outline Level</a:t>
            </a:r>
            <a:endParaRPr lang="en-GB"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en-GB" sz="2000" b="0" u="none" strike="noStrike">
                <a:solidFill>
                  <a:schemeClr val="dk1"/>
                </a:solidFill>
                <a:effectLst/>
                <a:uFillTx/>
                <a:latin typeface="Calibri"/>
              </a:rPr>
              <a:t>Third Outline Level</a:t>
            </a:r>
            <a:endParaRPr lang="en-GB"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en-GB" sz="2000" b="0" u="none" strike="noStrike">
                <a:solidFill>
                  <a:schemeClr val="dk1"/>
                </a:solidFill>
                <a:effectLst/>
                <a:uFillTx/>
                <a:latin typeface="Calibri"/>
              </a:rPr>
              <a:t>Fourth Outline Level</a:t>
            </a:r>
            <a:endParaRPr lang="en-GB"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en-GB" sz="2000" b="0" u="none" strike="noStrike">
                <a:solidFill>
                  <a:schemeClr val="dk1"/>
                </a:solidFill>
                <a:effectLst/>
                <a:uFillTx/>
                <a:latin typeface="Calibri"/>
              </a:rPr>
              <a:t>Fifth Outline Level</a:t>
            </a:r>
            <a:endParaRPr lang="en-GB"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en-GB" sz="2000" b="0" u="none" strike="noStrike">
                <a:solidFill>
                  <a:schemeClr val="dk1"/>
                </a:solidFill>
                <a:effectLst/>
                <a:uFillTx/>
                <a:latin typeface="Calibri"/>
              </a:rPr>
              <a:t>Sixth Outline Level</a:t>
            </a:r>
            <a:endParaRPr lang="en-GB"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en-GB" sz="2000" b="0" u="none" strike="noStrike">
                <a:solidFill>
                  <a:schemeClr val="dk1"/>
                </a:solidFill>
                <a:effectLst/>
                <a:uFillTx/>
                <a:latin typeface="Calibri"/>
              </a:rPr>
              <a:t>Seventh Outline Level</a:t>
            </a:r>
            <a:endParaRPr lang="en-GB"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 Id="rId6"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1.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9.png"/><Relationship Id="rId7" Type="http://schemas.openxmlformats.org/officeDocument/2006/relationships/image" Target="../media/image11.png"/><Relationship Id="rId8" Type="http://schemas.openxmlformats.org/officeDocument/2006/relationships/slideLayout" Target="../slideLayouts/slideLayout1.xml"/><Relationship Id="rId9"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3.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slideLayout" Target="../slideLayouts/slideLayout1.xml"/><Relationship Id="rId10"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8.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slideLayout" Target="../slideLayouts/slideLayout1.xml"/><Relationship Id="rId7"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24.png"/><Relationship Id="rId4" Type="http://schemas.openxmlformats.org/officeDocument/2006/relationships/image" Target="../media/image10.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slideLayout" Target="../slideLayouts/slideLayout1.xml"/><Relationship Id="rId8"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1295c"/>
        </a:solidFill>
      </p:bgPr>
    </p:bg>
    <p:spTree>
      <p:nvGrpSpPr>
        <p:cNvPr id="1" name=""/>
        <p:cNvGrpSpPr/>
        <p:nvPr/>
      </p:nvGrpSpPr>
      <p:grpSpPr>
        <a:xfrm>
          <a:off x="0" y="0"/>
          <a:ext cx="0" cy="0"/>
          <a:chOff x="0" y="0"/>
          <a:chExt cx="0" cy="0"/>
        </a:xfrm>
      </p:grpSpPr>
      <p:sp>
        <p:nvSpPr>
          <p:cNvPr id="10" name="Shape 0"/>
          <p:cNvSpPr/>
          <p:nvPr/>
        </p:nvSpPr>
        <p:spPr>
          <a:xfrm>
            <a:off x="9052560" y="548640"/>
            <a:ext cx="1051200" cy="1051200"/>
          </a:xfrm>
          <a:prstGeom prst="ellipse">
            <a:avLst/>
          </a:prstGeom>
          <a:solidFill>
            <a:srgbClr val="065a82">
              <a:alpha val="55000"/>
            </a:srgbClr>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1" name="Image 0" descr="icons/FaLeaf.png"/>
          <p:cNvPicPr/>
          <p:nvPr/>
        </p:nvPicPr>
        <p:blipFill>
          <a:blip r:embed="rId1"/>
          <a:stretch/>
        </p:blipFill>
        <p:spPr>
          <a:xfrm>
            <a:off x="9341640" y="837720"/>
            <a:ext cx="472680" cy="472680"/>
          </a:xfrm>
          <a:prstGeom prst="rect">
            <a:avLst/>
          </a:prstGeom>
          <a:noFill/>
          <a:ln w="0">
            <a:noFill/>
          </a:ln>
        </p:spPr>
      </p:pic>
      <p:sp>
        <p:nvSpPr>
          <p:cNvPr id="12" name="Shape 1"/>
          <p:cNvSpPr/>
          <p:nvPr/>
        </p:nvSpPr>
        <p:spPr>
          <a:xfrm>
            <a:off x="10058400" y="1234440"/>
            <a:ext cx="1051200" cy="1051200"/>
          </a:xfrm>
          <a:prstGeom prst="ellipse">
            <a:avLst/>
          </a:prstGeom>
          <a:solidFill>
            <a:srgbClr val="065a82">
              <a:alpha val="55000"/>
            </a:srgbClr>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3" name="Image 1" descr="icons/FaBalanceScale.png"/>
          <p:cNvPicPr/>
          <p:nvPr/>
        </p:nvPicPr>
        <p:blipFill>
          <a:blip r:embed="rId2"/>
          <a:stretch/>
        </p:blipFill>
        <p:spPr>
          <a:xfrm>
            <a:off x="10347480" y="1523520"/>
            <a:ext cx="472680" cy="472680"/>
          </a:xfrm>
          <a:prstGeom prst="rect">
            <a:avLst/>
          </a:prstGeom>
          <a:noFill/>
          <a:ln w="0">
            <a:noFill/>
          </a:ln>
        </p:spPr>
      </p:pic>
      <p:sp>
        <p:nvSpPr>
          <p:cNvPr id="14" name="Shape 2"/>
          <p:cNvSpPr/>
          <p:nvPr/>
        </p:nvSpPr>
        <p:spPr>
          <a:xfrm>
            <a:off x="9326880" y="1965960"/>
            <a:ext cx="1051200" cy="1051200"/>
          </a:xfrm>
          <a:prstGeom prst="ellipse">
            <a:avLst/>
          </a:prstGeom>
          <a:solidFill>
            <a:srgbClr val="065a82">
              <a:alpha val="55000"/>
            </a:srgbClr>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5" name="Image 2" descr="icons/FaRobot.png"/>
          <p:cNvPicPr/>
          <p:nvPr/>
        </p:nvPicPr>
        <p:blipFill>
          <a:blip r:embed="rId3"/>
          <a:stretch/>
        </p:blipFill>
        <p:spPr>
          <a:xfrm>
            <a:off x="9615960" y="2255040"/>
            <a:ext cx="472680" cy="472680"/>
          </a:xfrm>
          <a:prstGeom prst="rect">
            <a:avLst/>
          </a:prstGeom>
          <a:noFill/>
          <a:ln w="0">
            <a:noFill/>
          </a:ln>
        </p:spPr>
      </p:pic>
      <p:sp>
        <p:nvSpPr>
          <p:cNvPr id="16" name="Shape 3"/>
          <p:cNvSpPr/>
          <p:nvPr/>
        </p:nvSpPr>
        <p:spPr>
          <a:xfrm>
            <a:off x="10424160" y="45720"/>
            <a:ext cx="1051200" cy="1051200"/>
          </a:xfrm>
          <a:prstGeom prst="ellipse">
            <a:avLst/>
          </a:prstGeom>
          <a:solidFill>
            <a:srgbClr val="065a82">
              <a:alpha val="55000"/>
            </a:srgbClr>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7" name="Image 3" descr="icons/FaShieldAlt.png"/>
          <p:cNvPicPr/>
          <p:nvPr/>
        </p:nvPicPr>
        <p:blipFill>
          <a:blip r:embed="rId4"/>
          <a:stretch/>
        </p:blipFill>
        <p:spPr>
          <a:xfrm>
            <a:off x="10713240" y="334800"/>
            <a:ext cx="472680" cy="472680"/>
          </a:xfrm>
          <a:prstGeom prst="rect">
            <a:avLst/>
          </a:prstGeom>
          <a:noFill/>
          <a:ln w="0">
            <a:noFill/>
          </a:ln>
        </p:spPr>
      </p:pic>
      <p:sp>
        <p:nvSpPr>
          <p:cNvPr id="18" name="Text 4"/>
          <p:cNvSpPr/>
          <p:nvPr/>
        </p:nvSpPr>
        <p:spPr>
          <a:xfrm>
            <a:off x="640080" y="2331720"/>
            <a:ext cx="91436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pc="400" strike="noStrike">
                <a:solidFill>
                  <a:srgbClr val="e0983e"/>
                </a:solidFill>
                <a:effectLst/>
                <a:uFillTx/>
                <a:latin typeface="Calibri"/>
                <a:ea typeface="Calibri"/>
              </a:rPr>
              <a:t>GOVERNANCEIQ</a:t>
            </a:r>
            <a:endParaRPr lang="en-GB" sz="1600" b="0" u="none" strike="noStrike">
              <a:solidFill>
                <a:srgbClr val="ffffff"/>
              </a:solidFill>
              <a:effectLst/>
              <a:uFillTx/>
              <a:latin typeface="Arial"/>
            </a:endParaRPr>
          </a:p>
        </p:txBody>
      </p:sp>
      <p:sp>
        <p:nvSpPr>
          <p:cNvPr id="19" name="Text 5"/>
          <p:cNvSpPr/>
          <p:nvPr/>
        </p:nvSpPr>
        <p:spPr>
          <a:xfrm>
            <a:off x="640080" y="2788920"/>
            <a:ext cx="9600840" cy="1737000"/>
          </a:xfrm>
          <a:prstGeom prst="rect">
            <a:avLst/>
          </a:prstGeom>
          <a:noFill/>
          <a:ln w="0">
            <a:noFill/>
          </a:ln>
        </p:spPr>
        <p:style>
          <a:lnRef idx="0"/>
          <a:fillRef idx="0"/>
          <a:effectRef idx="0"/>
          <a:fontRef idx="minor"/>
        </p:style>
        <p:txBody>
          <a:bodyPr lIns="0" rIns="0" tIns="0" bIns="0" anchor="ctr">
            <a:noAutofit/>
          </a:bodyPr>
          <a:p>
            <a:pPr defTabSz="914400">
              <a:lnSpc>
                <a:spcPts val="4601"/>
              </a:lnSpc>
              <a:tabLst>
                <a:tab algn="l" pos="0"/>
              </a:tabLst>
            </a:pPr>
            <a:r>
              <a:rPr lang="en-US" sz="4000" b="1" u="none" strike="noStrike">
                <a:solidFill>
                  <a:srgbClr val="ffffff"/>
                </a:solidFill>
                <a:effectLst/>
                <a:uFillTx/>
                <a:latin typeface="Cambria"/>
                <a:ea typeface="Cambria"/>
              </a:rPr>
              <a:t>Sürdürülebilirlik ve Kurumsal Yönetişim</a:t>
            </a:r>
            <a:endParaRPr lang="en-GB" sz="4000" b="0" u="none" strike="noStrike">
              <a:solidFill>
                <a:srgbClr val="ffffff"/>
              </a:solidFill>
              <a:effectLst/>
              <a:uFillTx/>
              <a:latin typeface="Arial"/>
            </a:endParaRPr>
          </a:p>
          <a:p>
            <a:pPr defTabSz="914400">
              <a:lnSpc>
                <a:spcPts val="4601"/>
              </a:lnSpc>
              <a:tabLst>
                <a:tab algn="l" pos="0"/>
              </a:tabLst>
            </a:pPr>
            <a:r>
              <a:rPr lang="en-US" sz="4000" b="1" u="none" strike="noStrike">
                <a:solidFill>
                  <a:srgbClr val="ffffff"/>
                </a:solidFill>
                <a:effectLst/>
                <a:uFillTx/>
                <a:latin typeface="Cambria"/>
                <a:ea typeface="Cambria"/>
              </a:rPr>
              <a:t>Raporlamasının Uçtan Uca Merkezi</a:t>
            </a:r>
            <a:endParaRPr lang="en-GB" sz="4000" b="0" u="none" strike="noStrike">
              <a:solidFill>
                <a:srgbClr val="ffffff"/>
              </a:solidFill>
              <a:effectLst/>
              <a:uFillTx/>
              <a:latin typeface="Arial"/>
            </a:endParaRPr>
          </a:p>
        </p:txBody>
      </p:sp>
      <p:sp>
        <p:nvSpPr>
          <p:cNvPr id="20" name="Text 6"/>
          <p:cNvSpPr/>
          <p:nvPr/>
        </p:nvSpPr>
        <p:spPr>
          <a:xfrm>
            <a:off x="658440" y="4617720"/>
            <a:ext cx="86864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700" b="0" i="1" u="none" strike="noStrike">
                <a:solidFill>
                  <a:srgbClr val="cadcfc"/>
                </a:solidFill>
                <a:effectLst/>
                <a:uFillTx/>
                <a:latin typeface="Calibri"/>
                <a:ea typeface="Calibri"/>
              </a:rPr>
              <a:t>Bir danışmanlık firmasının bütün ESG portföyü, tek platformda.</a:t>
            </a:r>
            <a:endParaRPr lang="en-GB" sz="1700" b="0" u="none" strike="noStrike">
              <a:solidFill>
                <a:srgbClr val="ffffff"/>
              </a:solidFill>
              <a:effectLst/>
              <a:uFillTx/>
              <a:latin typeface="Arial"/>
            </a:endParaRPr>
          </a:p>
        </p:txBody>
      </p:sp>
      <p:sp>
        <p:nvSpPr>
          <p:cNvPr id="21" name="Shape 7"/>
          <p:cNvSpPr/>
          <p:nvPr/>
        </p:nvSpPr>
        <p:spPr>
          <a:xfrm>
            <a:off x="658080" y="4526280"/>
            <a:ext cx="822960" cy="360"/>
          </a:xfrm>
          <a:prstGeom prst="line">
            <a:avLst/>
          </a:prstGeom>
          <a:ln w="25400">
            <a:solidFill>
              <a:srgbClr val="e0983e"/>
            </a:solidFill>
            <a:round/>
          </a:ln>
        </p:spPr>
        <p:style>
          <a:lnRef idx="0"/>
          <a:fillRef idx="0"/>
          <a:effectRef idx="0"/>
          <a:fontRef idx="minor"/>
        </p:style>
        <p:txBody>
          <a:bodyPr lIns="90000" rIns="90000" tIns="-44640" bIns="-44640" anchor="t" anchorCtr="1">
            <a:noAutofit/>
          </a:bodyPr>
          <a:p>
            <a:endParaRPr lang="en-GB" sz="1800" b="0" u="none" strike="noStrike">
              <a:solidFill>
                <a:srgbClr val="ffffff"/>
              </a:solidFill>
              <a:effectLst/>
              <a:uFillTx/>
              <a:latin typeface="Arial"/>
            </a:endParaRPr>
          </a:p>
        </p:txBody>
      </p:sp>
      <p:sp>
        <p:nvSpPr>
          <p:cNvPr id="22" name="Text 8"/>
          <p:cNvSpPr/>
          <p:nvPr/>
        </p:nvSpPr>
        <p:spPr>
          <a:xfrm>
            <a:off x="658440" y="6126480"/>
            <a:ext cx="9143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0" u="none" strike="noStrike">
                <a:solidFill>
                  <a:srgbClr val="8fa3c4"/>
                </a:solidFill>
                <a:effectLst/>
                <a:uFillTx/>
                <a:latin typeface="Calibri"/>
                <a:ea typeface="Calibri"/>
              </a:rPr>
              <a:t>GRI  ·  ESRS / CSRD  ·  ISSB  ·  TSRS  ·  TCFD  ·  SASB</a:t>
            </a:r>
            <a:endParaRPr lang="en-GB"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Text 0"/>
          <p:cNvSpPr/>
          <p:nvPr/>
        </p:nvSpPr>
        <p:spPr>
          <a:xfrm>
            <a:off x="548640" y="164520"/>
            <a:ext cx="91436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pc="201" strike="noStrike">
                <a:solidFill>
                  <a:srgbClr val="1c7293"/>
                </a:solidFill>
                <a:effectLst/>
                <a:uFillTx/>
                <a:latin typeface="Calibri"/>
                <a:ea typeface="Calibri"/>
              </a:rPr>
              <a:t>PROBLEM</a:t>
            </a:r>
            <a:endParaRPr lang="en-GB" sz="1200" b="0" u="none" strike="noStrike">
              <a:solidFill>
                <a:srgbClr val="000000"/>
              </a:solidFill>
              <a:effectLst/>
              <a:uFillTx/>
              <a:latin typeface="Arial"/>
            </a:endParaRPr>
          </a:p>
        </p:txBody>
      </p:sp>
      <p:sp>
        <p:nvSpPr>
          <p:cNvPr id="24" name="Text 1"/>
          <p:cNvSpPr/>
          <p:nvPr/>
        </p:nvSpPr>
        <p:spPr>
          <a:xfrm>
            <a:off x="548640" y="41148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200" b="1" u="none" strike="noStrike">
                <a:solidFill>
                  <a:srgbClr val="21295c"/>
                </a:solidFill>
                <a:effectLst/>
                <a:uFillTx/>
                <a:latin typeface="Cambria"/>
                <a:ea typeface="Cambria"/>
              </a:rPr>
              <a:t>Danışmanlıklar İçin Büyüyen Karmaşa</a:t>
            </a:r>
            <a:endParaRPr lang="en-GB" sz="3200" b="0" u="none" strike="noStrike">
              <a:solidFill>
                <a:srgbClr val="000000"/>
              </a:solidFill>
              <a:effectLst/>
              <a:uFillTx/>
              <a:latin typeface="Arial"/>
            </a:endParaRPr>
          </a:p>
        </p:txBody>
      </p:sp>
      <p:sp>
        <p:nvSpPr>
          <p:cNvPr id="25" name="Text 2"/>
          <p:cNvSpPr/>
          <p:nvPr/>
        </p:nvSpPr>
        <p:spPr>
          <a:xfrm>
            <a:off x="548640" y="132588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ts val="2001"/>
              </a:lnSpc>
              <a:tabLst>
                <a:tab algn="l" pos="0"/>
              </a:tabLst>
            </a:pPr>
            <a:r>
              <a:rPr lang="en-US" sz="1450" b="0" u="none" strike="noStrike">
                <a:solidFill>
                  <a:srgbClr val="5a6b78"/>
                </a:solidFill>
                <a:effectLst/>
                <a:uFillTx/>
                <a:latin typeface="Calibri"/>
                <a:ea typeface="Calibri"/>
              </a:rPr>
              <a:t>Sürdürülebilirlik danışmanlıkları aynı anda birçok müşteri firma için raporlama yürütür. Her firmanın birden fazla lokasyonu, farklı katılımcıları ve çok sayıda örtüşen raporlama standardı vardır. Bu süreç bugün çoğunlukla dağınık Excel dosyaları, e-postalar ve manuel takiple ilerler.</a:t>
            </a:r>
            <a:endParaRPr lang="en-GB" sz="1450" b="0" u="none" strike="noStrike">
              <a:solidFill>
                <a:srgbClr val="000000"/>
              </a:solidFill>
              <a:effectLst/>
              <a:uFillTx/>
              <a:latin typeface="Arial"/>
            </a:endParaRPr>
          </a:p>
        </p:txBody>
      </p:sp>
      <p:sp>
        <p:nvSpPr>
          <p:cNvPr id="26" name="Shape 3"/>
          <p:cNvSpPr/>
          <p:nvPr/>
        </p:nvSpPr>
        <p:spPr>
          <a:xfrm>
            <a:off x="548640" y="2423160"/>
            <a:ext cx="3520080" cy="2651400"/>
          </a:xfrm>
          <a:prstGeom prst="roundRect">
            <a:avLst>
              <a:gd name="adj" fmla="val 2759"/>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7" name="Shape 4"/>
          <p:cNvSpPr/>
          <p:nvPr/>
        </p:nvSpPr>
        <p:spPr>
          <a:xfrm>
            <a:off x="868680" y="274320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28" name="Image 0" descr="icons/FaClock.png"/>
          <p:cNvPicPr/>
          <p:nvPr/>
        </p:nvPicPr>
        <p:blipFill>
          <a:blip r:embed="rId1"/>
          <a:stretch/>
        </p:blipFill>
        <p:spPr>
          <a:xfrm>
            <a:off x="1063080" y="2937600"/>
            <a:ext cx="388440" cy="388440"/>
          </a:xfrm>
          <a:prstGeom prst="rect">
            <a:avLst/>
          </a:prstGeom>
          <a:noFill/>
          <a:ln w="0">
            <a:noFill/>
          </a:ln>
        </p:spPr>
      </p:pic>
      <p:sp>
        <p:nvSpPr>
          <p:cNvPr id="29" name="Text 5"/>
          <p:cNvSpPr/>
          <p:nvPr/>
        </p:nvSpPr>
        <p:spPr>
          <a:xfrm>
            <a:off x="868680" y="3657600"/>
            <a:ext cx="288000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700" b="1" u="none" strike="noStrike">
                <a:solidFill>
                  <a:srgbClr val="21295c"/>
                </a:solidFill>
                <a:effectLst/>
                <a:uFillTx/>
                <a:latin typeface="Cambria"/>
                <a:ea typeface="Cambria"/>
              </a:rPr>
              <a:t>Zaman Kaybı</a:t>
            </a:r>
            <a:endParaRPr lang="en-GB" sz="1700" b="0" u="none" strike="noStrike">
              <a:solidFill>
                <a:srgbClr val="000000"/>
              </a:solidFill>
              <a:effectLst/>
              <a:uFillTx/>
              <a:latin typeface="Arial"/>
            </a:endParaRPr>
          </a:p>
        </p:txBody>
      </p:sp>
      <p:sp>
        <p:nvSpPr>
          <p:cNvPr id="30" name="Text 6"/>
          <p:cNvSpPr/>
          <p:nvPr/>
        </p:nvSpPr>
        <p:spPr>
          <a:xfrm>
            <a:off x="868680" y="4087440"/>
            <a:ext cx="2880000" cy="822600"/>
          </a:xfrm>
          <a:prstGeom prst="rect">
            <a:avLst/>
          </a:prstGeom>
          <a:noFill/>
          <a:ln w="0">
            <a:noFill/>
          </a:ln>
        </p:spPr>
        <p:style>
          <a:lnRef idx="0"/>
          <a:fillRef idx="0"/>
          <a:effectRef idx="0"/>
          <a:fontRef idx="minor"/>
        </p:style>
        <p:txBody>
          <a:bodyPr lIns="0" rIns="0" tIns="0" bIns="0" anchor="ctr">
            <a:noAutofit/>
          </a:bodyPr>
          <a:p>
            <a:pPr defTabSz="914400">
              <a:lnSpc>
                <a:spcPts val="1701"/>
              </a:lnSpc>
              <a:tabLst>
                <a:tab algn="l" pos="0"/>
              </a:tabLst>
            </a:pPr>
            <a:r>
              <a:rPr lang="en-US" sz="1300" b="0" u="none" strike="noStrike">
                <a:solidFill>
                  <a:srgbClr val="5a6b78"/>
                </a:solidFill>
                <a:effectLst/>
                <a:uFillTx/>
                <a:latin typeface="Calibri"/>
                <a:ea typeface="Calibri"/>
              </a:rPr>
              <a:t>Veri toplama ve konsolidasyon manuel ve yavaş ilerler.</a:t>
            </a:r>
            <a:endParaRPr lang="en-GB" sz="1300" b="0" u="none" strike="noStrike">
              <a:solidFill>
                <a:srgbClr val="000000"/>
              </a:solidFill>
              <a:effectLst/>
              <a:uFillTx/>
              <a:latin typeface="Arial"/>
            </a:endParaRPr>
          </a:p>
        </p:txBody>
      </p:sp>
      <p:sp>
        <p:nvSpPr>
          <p:cNvPr id="31" name="Shape 7"/>
          <p:cNvSpPr/>
          <p:nvPr/>
        </p:nvSpPr>
        <p:spPr>
          <a:xfrm>
            <a:off x="4343400" y="2423160"/>
            <a:ext cx="3520080" cy="2651400"/>
          </a:xfrm>
          <a:prstGeom prst="roundRect">
            <a:avLst>
              <a:gd name="adj" fmla="val 2759"/>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32" name="Shape 8"/>
          <p:cNvSpPr/>
          <p:nvPr/>
        </p:nvSpPr>
        <p:spPr>
          <a:xfrm>
            <a:off x="4663440" y="274320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33" name="Image 1" descr="icons/FaExclamationTriangle.png"/>
          <p:cNvPicPr/>
          <p:nvPr/>
        </p:nvPicPr>
        <p:blipFill>
          <a:blip r:embed="rId2"/>
          <a:stretch/>
        </p:blipFill>
        <p:spPr>
          <a:xfrm>
            <a:off x="4857840" y="2937600"/>
            <a:ext cx="388440" cy="388440"/>
          </a:xfrm>
          <a:prstGeom prst="rect">
            <a:avLst/>
          </a:prstGeom>
          <a:noFill/>
          <a:ln w="0">
            <a:noFill/>
          </a:ln>
        </p:spPr>
      </p:pic>
      <p:sp>
        <p:nvSpPr>
          <p:cNvPr id="34" name="Text 9"/>
          <p:cNvSpPr/>
          <p:nvPr/>
        </p:nvSpPr>
        <p:spPr>
          <a:xfrm>
            <a:off x="4663440" y="3657600"/>
            <a:ext cx="288000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700" b="1" u="none" strike="noStrike">
                <a:solidFill>
                  <a:srgbClr val="21295c"/>
                </a:solidFill>
                <a:effectLst/>
                <a:uFillTx/>
                <a:latin typeface="Cambria"/>
                <a:ea typeface="Cambria"/>
              </a:rPr>
              <a:t>Tutarsızlık Riski</a:t>
            </a:r>
            <a:endParaRPr lang="en-GB" sz="1700" b="0" u="none" strike="noStrike">
              <a:solidFill>
                <a:srgbClr val="000000"/>
              </a:solidFill>
              <a:effectLst/>
              <a:uFillTx/>
              <a:latin typeface="Arial"/>
            </a:endParaRPr>
          </a:p>
        </p:txBody>
      </p:sp>
      <p:sp>
        <p:nvSpPr>
          <p:cNvPr id="35" name="Text 10"/>
          <p:cNvSpPr/>
          <p:nvPr/>
        </p:nvSpPr>
        <p:spPr>
          <a:xfrm>
            <a:off x="4663440" y="4087440"/>
            <a:ext cx="2880000" cy="822600"/>
          </a:xfrm>
          <a:prstGeom prst="rect">
            <a:avLst/>
          </a:prstGeom>
          <a:noFill/>
          <a:ln w="0">
            <a:noFill/>
          </a:ln>
        </p:spPr>
        <p:style>
          <a:lnRef idx="0"/>
          <a:fillRef idx="0"/>
          <a:effectRef idx="0"/>
          <a:fontRef idx="minor"/>
        </p:style>
        <p:txBody>
          <a:bodyPr lIns="0" rIns="0" tIns="0" bIns="0" anchor="ctr">
            <a:noAutofit/>
          </a:bodyPr>
          <a:p>
            <a:pPr defTabSz="914400">
              <a:lnSpc>
                <a:spcPts val="1701"/>
              </a:lnSpc>
              <a:tabLst>
                <a:tab algn="l" pos="0"/>
              </a:tabLst>
            </a:pPr>
            <a:r>
              <a:rPr lang="en-US" sz="1300" b="0" u="none" strike="noStrike">
                <a:solidFill>
                  <a:srgbClr val="5a6b78"/>
                </a:solidFill>
                <a:effectLst/>
                <a:uFillTx/>
                <a:latin typeface="Calibri"/>
                <a:ea typeface="Calibri"/>
              </a:rPr>
              <a:t>Aynı veri farklı çerçevelerde farklı görünür.</a:t>
            </a:r>
            <a:endParaRPr lang="en-GB" sz="1300" b="0" u="none" strike="noStrike">
              <a:solidFill>
                <a:srgbClr val="000000"/>
              </a:solidFill>
              <a:effectLst/>
              <a:uFillTx/>
              <a:latin typeface="Arial"/>
            </a:endParaRPr>
          </a:p>
        </p:txBody>
      </p:sp>
      <p:sp>
        <p:nvSpPr>
          <p:cNvPr id="36" name="Shape 11"/>
          <p:cNvSpPr/>
          <p:nvPr/>
        </p:nvSpPr>
        <p:spPr>
          <a:xfrm>
            <a:off x="8138160" y="2423160"/>
            <a:ext cx="3520080" cy="2651400"/>
          </a:xfrm>
          <a:prstGeom prst="roundRect">
            <a:avLst>
              <a:gd name="adj" fmla="val 2759"/>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37" name="Shape 12"/>
          <p:cNvSpPr/>
          <p:nvPr/>
        </p:nvSpPr>
        <p:spPr>
          <a:xfrm>
            <a:off x="8458200" y="274320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38" name="Image 2" descr="icons/FaSearch.png"/>
          <p:cNvPicPr/>
          <p:nvPr/>
        </p:nvPicPr>
        <p:blipFill>
          <a:blip r:embed="rId3"/>
          <a:stretch/>
        </p:blipFill>
        <p:spPr>
          <a:xfrm>
            <a:off x="8652600" y="2937600"/>
            <a:ext cx="388440" cy="388440"/>
          </a:xfrm>
          <a:prstGeom prst="rect">
            <a:avLst/>
          </a:prstGeom>
          <a:noFill/>
          <a:ln w="0">
            <a:noFill/>
          </a:ln>
        </p:spPr>
      </p:pic>
      <p:sp>
        <p:nvSpPr>
          <p:cNvPr id="39" name="Text 13"/>
          <p:cNvSpPr/>
          <p:nvPr/>
        </p:nvSpPr>
        <p:spPr>
          <a:xfrm>
            <a:off x="8458200" y="3657600"/>
            <a:ext cx="288000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700" b="1" u="none" strike="noStrike">
                <a:solidFill>
                  <a:srgbClr val="21295c"/>
                </a:solidFill>
                <a:effectLst/>
                <a:uFillTx/>
                <a:latin typeface="Cambria"/>
                <a:ea typeface="Cambria"/>
              </a:rPr>
              <a:t>İzlenebilirlik Eksikliği</a:t>
            </a:r>
            <a:endParaRPr lang="en-GB" sz="1700" b="0" u="none" strike="noStrike">
              <a:solidFill>
                <a:srgbClr val="000000"/>
              </a:solidFill>
              <a:effectLst/>
              <a:uFillTx/>
              <a:latin typeface="Arial"/>
            </a:endParaRPr>
          </a:p>
        </p:txBody>
      </p:sp>
      <p:sp>
        <p:nvSpPr>
          <p:cNvPr id="40" name="Text 14"/>
          <p:cNvSpPr/>
          <p:nvPr/>
        </p:nvSpPr>
        <p:spPr>
          <a:xfrm>
            <a:off x="8458200" y="4087440"/>
            <a:ext cx="2880000" cy="822600"/>
          </a:xfrm>
          <a:prstGeom prst="rect">
            <a:avLst/>
          </a:prstGeom>
          <a:noFill/>
          <a:ln w="0">
            <a:noFill/>
          </a:ln>
        </p:spPr>
        <p:style>
          <a:lnRef idx="0"/>
          <a:fillRef idx="0"/>
          <a:effectRef idx="0"/>
          <a:fontRef idx="minor"/>
        </p:style>
        <p:txBody>
          <a:bodyPr lIns="0" rIns="0" tIns="0" bIns="0" anchor="ctr">
            <a:noAutofit/>
          </a:bodyPr>
          <a:p>
            <a:pPr defTabSz="914400">
              <a:lnSpc>
                <a:spcPts val="1701"/>
              </a:lnSpc>
              <a:tabLst>
                <a:tab algn="l" pos="0"/>
              </a:tabLst>
            </a:pPr>
            <a:r>
              <a:rPr lang="en-US" sz="1300" b="0" u="none" strike="noStrike">
                <a:solidFill>
                  <a:srgbClr val="5a6b78"/>
                </a:solidFill>
                <a:effectLst/>
                <a:uFillTx/>
                <a:latin typeface="Calibri"/>
                <a:ea typeface="Calibri"/>
              </a:rPr>
              <a:t>Kim, ne zaman, hangi veriyi girdi belli olmaz.</a:t>
            </a:r>
            <a:endParaRPr lang="en-GB" sz="1300" b="0" u="none" strike="noStrike">
              <a:solidFill>
                <a:srgbClr val="000000"/>
              </a:solidFill>
              <a:effectLst/>
              <a:uFillTx/>
              <a:latin typeface="Arial"/>
            </a:endParaRPr>
          </a:p>
        </p:txBody>
      </p:sp>
      <p:sp>
        <p:nvSpPr>
          <p:cNvPr id="41" name="Text 15"/>
          <p:cNvSpPr/>
          <p:nvPr/>
        </p:nvSpPr>
        <p:spPr>
          <a:xfrm>
            <a:off x="548640" y="5349240"/>
            <a:ext cx="11063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i="1" u="none" strike="noStrike">
                <a:solidFill>
                  <a:srgbClr val="1c7293"/>
                </a:solidFill>
                <a:effectLst/>
                <a:uFillTx/>
                <a:latin typeface="Cambria"/>
                <a:ea typeface="Cambria"/>
              </a:rPr>
              <a:t>GovernanceIQ bu karmaşayı tek bir dijital iş akışına dönüştürür.</a:t>
            </a:r>
            <a:endParaRPr lang="en-GB"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Text 0"/>
          <p:cNvSpPr/>
          <p:nvPr/>
        </p:nvSpPr>
        <p:spPr>
          <a:xfrm>
            <a:off x="548640" y="164520"/>
            <a:ext cx="91436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pc="201" strike="noStrike">
                <a:solidFill>
                  <a:srgbClr val="1c7293"/>
                </a:solidFill>
                <a:effectLst/>
                <a:uFillTx/>
                <a:latin typeface="Calibri"/>
                <a:ea typeface="Calibri"/>
              </a:rPr>
              <a:t>ÇÖZÜM</a:t>
            </a:r>
            <a:endParaRPr lang="en-GB" sz="1200" b="0" u="none" strike="noStrike">
              <a:solidFill>
                <a:srgbClr val="000000"/>
              </a:solidFill>
              <a:effectLst/>
              <a:uFillTx/>
              <a:latin typeface="Arial"/>
            </a:endParaRPr>
          </a:p>
        </p:txBody>
      </p:sp>
      <p:sp>
        <p:nvSpPr>
          <p:cNvPr id="43" name="Text 1"/>
          <p:cNvSpPr/>
          <p:nvPr/>
        </p:nvSpPr>
        <p:spPr>
          <a:xfrm>
            <a:off x="548640" y="41148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200" b="1" u="none" strike="noStrike">
                <a:solidFill>
                  <a:srgbClr val="21295c"/>
                </a:solidFill>
                <a:effectLst/>
                <a:uFillTx/>
                <a:latin typeface="Cambria"/>
                <a:ea typeface="Cambria"/>
              </a:rPr>
              <a:t>Tek Platform, Uçtan Uca Bir Akış</a:t>
            </a:r>
            <a:endParaRPr lang="en-GB" sz="3200" b="0" u="none" strike="noStrike">
              <a:solidFill>
                <a:srgbClr val="000000"/>
              </a:solidFill>
              <a:effectLst/>
              <a:uFillTx/>
              <a:latin typeface="Arial"/>
            </a:endParaRPr>
          </a:p>
        </p:txBody>
      </p:sp>
      <p:sp>
        <p:nvSpPr>
          <p:cNvPr id="44" name="Text 2"/>
          <p:cNvSpPr/>
          <p:nvPr/>
        </p:nvSpPr>
        <p:spPr>
          <a:xfrm>
            <a:off x="548640" y="1325880"/>
            <a:ext cx="11063880" cy="639720"/>
          </a:xfrm>
          <a:prstGeom prst="rect">
            <a:avLst/>
          </a:prstGeom>
          <a:noFill/>
          <a:ln w="0">
            <a:noFill/>
          </a:ln>
        </p:spPr>
        <p:style>
          <a:lnRef idx="0"/>
          <a:fillRef idx="0"/>
          <a:effectRef idx="0"/>
          <a:fontRef idx="minor"/>
        </p:style>
        <p:txBody>
          <a:bodyPr lIns="0" rIns="0" tIns="0" bIns="0" anchor="ctr">
            <a:noAutofit/>
          </a:bodyPr>
          <a:p>
            <a:pPr defTabSz="914400">
              <a:lnSpc>
                <a:spcPts val="2001"/>
              </a:lnSpc>
              <a:tabLst>
                <a:tab algn="l" pos="0"/>
              </a:tabLst>
            </a:pPr>
            <a:r>
              <a:rPr lang="en-US" sz="1450" b="0" u="none" strike="noStrike">
                <a:solidFill>
                  <a:srgbClr val="5a6b78"/>
                </a:solidFill>
                <a:effectLst/>
                <a:uFillTx/>
                <a:latin typeface="Calibri"/>
                <a:ea typeface="Calibri"/>
              </a:rPr>
              <a:t>GovernanceIQ, sürdürülebilirlik ve kurumsal yönetişim (ESG) raporlamasını uçtan uca yönetir; danışmanlık firmalarının birden çok müşterisini tek bir platformda yönetmesini sağlar.</a:t>
            </a:r>
            <a:endParaRPr lang="en-GB" sz="1450" b="0" u="none" strike="noStrike">
              <a:solidFill>
                <a:srgbClr val="000000"/>
              </a:solidFill>
              <a:effectLst/>
              <a:uFillTx/>
              <a:latin typeface="Arial"/>
            </a:endParaRPr>
          </a:p>
        </p:txBody>
      </p:sp>
      <p:sp>
        <p:nvSpPr>
          <p:cNvPr id="45" name="Shape 3"/>
          <p:cNvSpPr/>
          <p:nvPr/>
        </p:nvSpPr>
        <p:spPr>
          <a:xfrm>
            <a:off x="594360" y="2377440"/>
            <a:ext cx="2514240" cy="3291480"/>
          </a:xfrm>
          <a:prstGeom prst="roundRect">
            <a:avLst>
              <a:gd name="adj" fmla="val 2909"/>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46" name="Text 4"/>
          <p:cNvSpPr/>
          <p:nvPr/>
        </p:nvSpPr>
        <p:spPr>
          <a:xfrm>
            <a:off x="822960" y="2560320"/>
            <a:ext cx="9140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000" b="1" u="none" strike="noStrike">
                <a:solidFill>
                  <a:srgbClr val="cadcfc"/>
                </a:solidFill>
                <a:effectLst/>
                <a:uFillTx/>
                <a:latin typeface="Cambria"/>
                <a:ea typeface="Cambria"/>
              </a:rPr>
              <a:t>01</a:t>
            </a:r>
            <a:endParaRPr lang="en-GB" sz="2000" b="0" u="none" strike="noStrike">
              <a:solidFill>
                <a:srgbClr val="000000"/>
              </a:solidFill>
              <a:effectLst/>
              <a:uFillTx/>
              <a:latin typeface="Arial"/>
            </a:endParaRPr>
          </a:p>
        </p:txBody>
      </p:sp>
      <p:sp>
        <p:nvSpPr>
          <p:cNvPr id="47" name="Shape 5"/>
          <p:cNvSpPr/>
          <p:nvPr/>
        </p:nvSpPr>
        <p:spPr>
          <a:xfrm>
            <a:off x="1394640" y="3063240"/>
            <a:ext cx="914040" cy="91404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48" name="Image 0" descr="icons/FaClipboardList.png"/>
          <p:cNvPicPr/>
          <p:nvPr/>
        </p:nvPicPr>
        <p:blipFill>
          <a:blip r:embed="rId1"/>
          <a:stretch/>
        </p:blipFill>
        <p:spPr>
          <a:xfrm>
            <a:off x="1623240" y="3291840"/>
            <a:ext cx="456840" cy="456840"/>
          </a:xfrm>
          <a:prstGeom prst="rect">
            <a:avLst/>
          </a:prstGeom>
          <a:noFill/>
          <a:ln w="0">
            <a:noFill/>
          </a:ln>
        </p:spPr>
      </p:pic>
      <p:sp>
        <p:nvSpPr>
          <p:cNvPr id="49" name="Text 6"/>
          <p:cNvSpPr/>
          <p:nvPr/>
        </p:nvSpPr>
        <p:spPr>
          <a:xfrm>
            <a:off x="777240" y="4160520"/>
            <a:ext cx="21484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50" b="1" u="none" strike="noStrike">
                <a:solidFill>
                  <a:srgbClr val="21295c"/>
                </a:solidFill>
                <a:effectLst/>
                <a:uFillTx/>
                <a:latin typeface="Cambria"/>
                <a:ea typeface="Cambria"/>
              </a:rPr>
              <a:t>Veri Toplama &amp; Katılım</a:t>
            </a:r>
            <a:endParaRPr lang="en-GB" sz="1450" b="0" u="none" strike="noStrike">
              <a:solidFill>
                <a:srgbClr val="000000"/>
              </a:solidFill>
              <a:effectLst/>
              <a:uFillTx/>
              <a:latin typeface="Arial"/>
            </a:endParaRPr>
          </a:p>
        </p:txBody>
      </p:sp>
      <p:sp>
        <p:nvSpPr>
          <p:cNvPr id="50" name="Text 7"/>
          <p:cNvSpPr/>
          <p:nvPr/>
        </p:nvSpPr>
        <p:spPr>
          <a:xfrm>
            <a:off x="777240" y="4800600"/>
            <a:ext cx="2148480" cy="776880"/>
          </a:xfrm>
          <a:prstGeom prst="rect">
            <a:avLst/>
          </a:prstGeom>
          <a:noFill/>
          <a:ln w="0">
            <a:noFill/>
          </a:ln>
        </p:spPr>
        <p:style>
          <a:lnRef idx="0"/>
          <a:fillRef idx="0"/>
          <a:effectRef idx="0"/>
          <a:fontRef idx="minor"/>
        </p:style>
        <p:txBody>
          <a:bodyPr lIns="0" rIns="0" tIns="0" bIns="0" anchor="ctr">
            <a:noAutofit/>
          </a:bodyPr>
          <a:p>
            <a:pPr algn="ctr" defTabSz="914400">
              <a:lnSpc>
                <a:spcPts val="1400"/>
              </a:lnSpc>
              <a:tabLst>
                <a:tab algn="l" pos="0"/>
              </a:tabLst>
            </a:pPr>
            <a:r>
              <a:rPr lang="en-US" sz="1100" b="0" u="none" strike="noStrike">
                <a:solidFill>
                  <a:srgbClr val="5a6b78"/>
                </a:solidFill>
                <a:effectLst/>
                <a:uFillTx/>
                <a:latin typeface="Calibri"/>
                <a:ea typeface="Calibri"/>
              </a:rPr>
              <a:t>Şablonlar, atamalar, girişsiz paydaş katılımı</a:t>
            </a:r>
            <a:endParaRPr lang="en-GB" sz="1100" b="0" u="none" strike="noStrike">
              <a:solidFill>
                <a:srgbClr val="000000"/>
              </a:solidFill>
              <a:effectLst/>
              <a:uFillTx/>
              <a:latin typeface="Arial"/>
            </a:endParaRPr>
          </a:p>
        </p:txBody>
      </p:sp>
      <p:pic>
        <p:nvPicPr>
          <p:cNvPr id="51" name="Image 1" descr="icons/FaArrowRight.png"/>
          <p:cNvPicPr/>
          <p:nvPr/>
        </p:nvPicPr>
        <p:blipFill>
          <a:blip r:embed="rId2"/>
          <a:stretch/>
        </p:blipFill>
        <p:spPr>
          <a:xfrm>
            <a:off x="3127320" y="3886200"/>
            <a:ext cx="273960" cy="273960"/>
          </a:xfrm>
          <a:prstGeom prst="rect">
            <a:avLst/>
          </a:prstGeom>
          <a:noFill/>
          <a:ln w="0">
            <a:noFill/>
          </a:ln>
        </p:spPr>
      </p:pic>
      <p:sp>
        <p:nvSpPr>
          <p:cNvPr id="52" name="Shape 8"/>
          <p:cNvSpPr/>
          <p:nvPr/>
        </p:nvSpPr>
        <p:spPr>
          <a:xfrm>
            <a:off x="3429000" y="2377440"/>
            <a:ext cx="2514240" cy="3291480"/>
          </a:xfrm>
          <a:prstGeom prst="roundRect">
            <a:avLst>
              <a:gd name="adj" fmla="val 2909"/>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53" name="Text 9"/>
          <p:cNvSpPr/>
          <p:nvPr/>
        </p:nvSpPr>
        <p:spPr>
          <a:xfrm>
            <a:off x="3657600" y="2560320"/>
            <a:ext cx="9140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000" b="1" u="none" strike="noStrike">
                <a:solidFill>
                  <a:srgbClr val="cadcfc"/>
                </a:solidFill>
                <a:effectLst/>
                <a:uFillTx/>
                <a:latin typeface="Cambria"/>
                <a:ea typeface="Cambria"/>
              </a:rPr>
              <a:t>02</a:t>
            </a:r>
            <a:endParaRPr lang="en-GB" sz="2000" b="0" u="none" strike="noStrike">
              <a:solidFill>
                <a:srgbClr val="000000"/>
              </a:solidFill>
              <a:effectLst/>
              <a:uFillTx/>
              <a:latin typeface="Arial"/>
            </a:endParaRPr>
          </a:p>
        </p:txBody>
      </p:sp>
      <p:sp>
        <p:nvSpPr>
          <p:cNvPr id="54" name="Shape 10"/>
          <p:cNvSpPr/>
          <p:nvPr/>
        </p:nvSpPr>
        <p:spPr>
          <a:xfrm>
            <a:off x="4229280" y="3063240"/>
            <a:ext cx="914040" cy="91404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55" name="Image 2" descr="icons/FaBalanceScale.png"/>
          <p:cNvPicPr/>
          <p:nvPr/>
        </p:nvPicPr>
        <p:blipFill>
          <a:blip r:embed="rId3"/>
          <a:stretch/>
        </p:blipFill>
        <p:spPr>
          <a:xfrm>
            <a:off x="4457880" y="3291840"/>
            <a:ext cx="456840" cy="456840"/>
          </a:xfrm>
          <a:prstGeom prst="rect">
            <a:avLst/>
          </a:prstGeom>
          <a:noFill/>
          <a:ln w="0">
            <a:noFill/>
          </a:ln>
        </p:spPr>
      </p:pic>
      <p:sp>
        <p:nvSpPr>
          <p:cNvPr id="56" name="Text 11"/>
          <p:cNvSpPr/>
          <p:nvPr/>
        </p:nvSpPr>
        <p:spPr>
          <a:xfrm>
            <a:off x="3611880" y="4160520"/>
            <a:ext cx="21484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50" b="1" u="none" strike="noStrike">
                <a:solidFill>
                  <a:srgbClr val="21295c"/>
                </a:solidFill>
                <a:effectLst/>
                <a:uFillTx/>
                <a:latin typeface="Cambria"/>
                <a:ea typeface="Cambria"/>
              </a:rPr>
              <a:t>Önemlilik &amp; Analiz</a:t>
            </a:r>
            <a:endParaRPr lang="en-GB" sz="1450" b="0" u="none" strike="noStrike">
              <a:solidFill>
                <a:srgbClr val="000000"/>
              </a:solidFill>
              <a:effectLst/>
              <a:uFillTx/>
              <a:latin typeface="Arial"/>
            </a:endParaRPr>
          </a:p>
        </p:txBody>
      </p:sp>
      <p:sp>
        <p:nvSpPr>
          <p:cNvPr id="57" name="Text 12"/>
          <p:cNvSpPr/>
          <p:nvPr/>
        </p:nvSpPr>
        <p:spPr>
          <a:xfrm>
            <a:off x="3611880" y="4800600"/>
            <a:ext cx="2148480" cy="776880"/>
          </a:xfrm>
          <a:prstGeom prst="rect">
            <a:avLst/>
          </a:prstGeom>
          <a:noFill/>
          <a:ln w="0">
            <a:noFill/>
          </a:ln>
        </p:spPr>
        <p:style>
          <a:lnRef idx="0"/>
          <a:fillRef idx="0"/>
          <a:effectRef idx="0"/>
          <a:fontRef idx="minor"/>
        </p:style>
        <p:txBody>
          <a:bodyPr lIns="0" rIns="0" tIns="0" bIns="0" anchor="ctr">
            <a:noAutofit/>
          </a:bodyPr>
          <a:p>
            <a:pPr algn="ctr" defTabSz="914400">
              <a:lnSpc>
                <a:spcPts val="1400"/>
              </a:lnSpc>
              <a:tabLst>
                <a:tab algn="l" pos="0"/>
              </a:tabLst>
            </a:pPr>
            <a:r>
              <a:rPr lang="en-US" sz="1100" b="0" u="none" strike="noStrike">
                <a:solidFill>
                  <a:srgbClr val="5a6b78"/>
                </a:solidFill>
                <a:effectLst/>
                <a:uFillTx/>
                <a:latin typeface="Calibri"/>
                <a:ea typeface="Calibri"/>
              </a:rPr>
              <a:t>Çifte önemlilik, emisyon, senaryo analizi</a:t>
            </a:r>
            <a:endParaRPr lang="en-GB" sz="1100" b="0" u="none" strike="noStrike">
              <a:solidFill>
                <a:srgbClr val="000000"/>
              </a:solidFill>
              <a:effectLst/>
              <a:uFillTx/>
              <a:latin typeface="Arial"/>
            </a:endParaRPr>
          </a:p>
        </p:txBody>
      </p:sp>
      <p:pic>
        <p:nvPicPr>
          <p:cNvPr id="58" name="Image 3" descr="icons/FaArrowRight.png"/>
          <p:cNvPicPr/>
          <p:nvPr/>
        </p:nvPicPr>
        <p:blipFill>
          <a:blip r:embed="rId4"/>
          <a:stretch/>
        </p:blipFill>
        <p:spPr>
          <a:xfrm>
            <a:off x="5961960" y="3886200"/>
            <a:ext cx="273960" cy="273960"/>
          </a:xfrm>
          <a:prstGeom prst="rect">
            <a:avLst/>
          </a:prstGeom>
          <a:noFill/>
          <a:ln w="0">
            <a:noFill/>
          </a:ln>
        </p:spPr>
      </p:pic>
      <p:sp>
        <p:nvSpPr>
          <p:cNvPr id="59" name="Shape 13"/>
          <p:cNvSpPr/>
          <p:nvPr/>
        </p:nvSpPr>
        <p:spPr>
          <a:xfrm>
            <a:off x="6263640" y="2377440"/>
            <a:ext cx="2514240" cy="3291480"/>
          </a:xfrm>
          <a:prstGeom prst="roundRect">
            <a:avLst>
              <a:gd name="adj" fmla="val 2909"/>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60" name="Text 14"/>
          <p:cNvSpPr/>
          <p:nvPr/>
        </p:nvSpPr>
        <p:spPr>
          <a:xfrm>
            <a:off x="6492240" y="2560320"/>
            <a:ext cx="9140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000" b="1" u="none" strike="noStrike">
                <a:solidFill>
                  <a:srgbClr val="cadcfc"/>
                </a:solidFill>
                <a:effectLst/>
                <a:uFillTx/>
                <a:latin typeface="Cambria"/>
                <a:ea typeface="Cambria"/>
              </a:rPr>
              <a:t>03</a:t>
            </a:r>
            <a:endParaRPr lang="en-GB" sz="2000" b="0" u="none" strike="noStrike">
              <a:solidFill>
                <a:srgbClr val="000000"/>
              </a:solidFill>
              <a:effectLst/>
              <a:uFillTx/>
              <a:latin typeface="Arial"/>
            </a:endParaRPr>
          </a:p>
        </p:txBody>
      </p:sp>
      <p:sp>
        <p:nvSpPr>
          <p:cNvPr id="61" name="Shape 15"/>
          <p:cNvSpPr/>
          <p:nvPr/>
        </p:nvSpPr>
        <p:spPr>
          <a:xfrm>
            <a:off x="7063920" y="3063240"/>
            <a:ext cx="914040" cy="91404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62" name="Image 4" descr="icons/FaClipboardCheck.png"/>
          <p:cNvPicPr/>
          <p:nvPr/>
        </p:nvPicPr>
        <p:blipFill>
          <a:blip r:embed="rId5"/>
          <a:stretch/>
        </p:blipFill>
        <p:spPr>
          <a:xfrm>
            <a:off x="7292520" y="3291840"/>
            <a:ext cx="456840" cy="456840"/>
          </a:xfrm>
          <a:prstGeom prst="rect">
            <a:avLst/>
          </a:prstGeom>
          <a:noFill/>
          <a:ln w="0">
            <a:noFill/>
          </a:ln>
        </p:spPr>
      </p:pic>
      <p:sp>
        <p:nvSpPr>
          <p:cNvPr id="63" name="Text 16"/>
          <p:cNvSpPr/>
          <p:nvPr/>
        </p:nvSpPr>
        <p:spPr>
          <a:xfrm>
            <a:off x="6446520" y="4160520"/>
            <a:ext cx="21484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50" b="1" u="none" strike="noStrike">
                <a:solidFill>
                  <a:srgbClr val="21295c"/>
                </a:solidFill>
                <a:effectLst/>
                <a:uFillTx/>
                <a:latin typeface="Cambria"/>
                <a:ea typeface="Cambria"/>
              </a:rPr>
              <a:t>Uyum &amp; Denetim</a:t>
            </a:r>
            <a:endParaRPr lang="en-GB" sz="1450" b="0" u="none" strike="noStrike">
              <a:solidFill>
                <a:srgbClr val="000000"/>
              </a:solidFill>
              <a:effectLst/>
              <a:uFillTx/>
              <a:latin typeface="Arial"/>
            </a:endParaRPr>
          </a:p>
        </p:txBody>
      </p:sp>
      <p:sp>
        <p:nvSpPr>
          <p:cNvPr id="64" name="Text 17"/>
          <p:cNvSpPr/>
          <p:nvPr/>
        </p:nvSpPr>
        <p:spPr>
          <a:xfrm>
            <a:off x="6446520" y="4800600"/>
            <a:ext cx="2148480" cy="776880"/>
          </a:xfrm>
          <a:prstGeom prst="rect">
            <a:avLst/>
          </a:prstGeom>
          <a:noFill/>
          <a:ln w="0">
            <a:noFill/>
          </a:ln>
        </p:spPr>
        <p:style>
          <a:lnRef idx="0"/>
          <a:fillRef idx="0"/>
          <a:effectRef idx="0"/>
          <a:fontRef idx="minor"/>
        </p:style>
        <p:txBody>
          <a:bodyPr lIns="0" rIns="0" tIns="0" bIns="0" anchor="ctr">
            <a:noAutofit/>
          </a:bodyPr>
          <a:p>
            <a:pPr algn="ctr" defTabSz="914400">
              <a:lnSpc>
                <a:spcPts val="1400"/>
              </a:lnSpc>
              <a:tabLst>
                <a:tab algn="l" pos="0"/>
              </a:tabLst>
            </a:pPr>
            <a:r>
              <a:rPr lang="en-US" sz="1100" b="0" u="none" strike="noStrike">
                <a:solidFill>
                  <a:srgbClr val="5a6b78"/>
                </a:solidFill>
                <a:effectLst/>
                <a:uFillTx/>
                <a:latin typeface="Calibri"/>
                <a:ea typeface="Calibri"/>
              </a:rPr>
              <a:t>Eksiklik ve tutarlılık kontrolü, denetçi onayı</a:t>
            </a:r>
            <a:endParaRPr lang="en-GB" sz="1100" b="0" u="none" strike="noStrike">
              <a:solidFill>
                <a:srgbClr val="000000"/>
              </a:solidFill>
              <a:effectLst/>
              <a:uFillTx/>
              <a:latin typeface="Arial"/>
            </a:endParaRPr>
          </a:p>
        </p:txBody>
      </p:sp>
      <p:pic>
        <p:nvPicPr>
          <p:cNvPr id="65" name="Image 5" descr="icons/FaArrowRight.png"/>
          <p:cNvPicPr/>
          <p:nvPr/>
        </p:nvPicPr>
        <p:blipFill>
          <a:blip r:embed="rId6"/>
          <a:stretch/>
        </p:blipFill>
        <p:spPr>
          <a:xfrm>
            <a:off x="8796600" y="3886200"/>
            <a:ext cx="273960" cy="273960"/>
          </a:xfrm>
          <a:prstGeom prst="rect">
            <a:avLst/>
          </a:prstGeom>
          <a:noFill/>
          <a:ln w="0">
            <a:noFill/>
          </a:ln>
        </p:spPr>
      </p:pic>
      <p:sp>
        <p:nvSpPr>
          <p:cNvPr id="66" name="Shape 18"/>
          <p:cNvSpPr/>
          <p:nvPr/>
        </p:nvSpPr>
        <p:spPr>
          <a:xfrm>
            <a:off x="9098280" y="2377440"/>
            <a:ext cx="2514240" cy="3291480"/>
          </a:xfrm>
          <a:prstGeom prst="roundRect">
            <a:avLst>
              <a:gd name="adj" fmla="val 2909"/>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67" name="Text 19"/>
          <p:cNvSpPr/>
          <p:nvPr/>
        </p:nvSpPr>
        <p:spPr>
          <a:xfrm>
            <a:off x="9326880" y="2560320"/>
            <a:ext cx="9140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000" b="1" u="none" strike="noStrike">
                <a:solidFill>
                  <a:srgbClr val="cadcfc"/>
                </a:solidFill>
                <a:effectLst/>
                <a:uFillTx/>
                <a:latin typeface="Cambria"/>
                <a:ea typeface="Cambria"/>
              </a:rPr>
              <a:t>04</a:t>
            </a:r>
            <a:endParaRPr lang="en-GB" sz="2000" b="0" u="none" strike="noStrike">
              <a:solidFill>
                <a:srgbClr val="000000"/>
              </a:solidFill>
              <a:effectLst/>
              <a:uFillTx/>
              <a:latin typeface="Arial"/>
            </a:endParaRPr>
          </a:p>
        </p:txBody>
      </p:sp>
      <p:sp>
        <p:nvSpPr>
          <p:cNvPr id="68" name="Shape 20"/>
          <p:cNvSpPr/>
          <p:nvPr/>
        </p:nvSpPr>
        <p:spPr>
          <a:xfrm>
            <a:off x="9898560" y="3063240"/>
            <a:ext cx="914040" cy="91404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69" name="Image 6" descr="icons/FaFileAlt.png"/>
          <p:cNvPicPr/>
          <p:nvPr/>
        </p:nvPicPr>
        <p:blipFill>
          <a:blip r:embed="rId7"/>
          <a:stretch/>
        </p:blipFill>
        <p:spPr>
          <a:xfrm>
            <a:off x="10127160" y="3291840"/>
            <a:ext cx="456840" cy="456840"/>
          </a:xfrm>
          <a:prstGeom prst="rect">
            <a:avLst/>
          </a:prstGeom>
          <a:noFill/>
          <a:ln w="0">
            <a:noFill/>
          </a:ln>
        </p:spPr>
      </p:pic>
      <p:sp>
        <p:nvSpPr>
          <p:cNvPr id="70" name="Text 21"/>
          <p:cNvSpPr/>
          <p:nvPr/>
        </p:nvSpPr>
        <p:spPr>
          <a:xfrm>
            <a:off x="9281160" y="4160520"/>
            <a:ext cx="21484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50" b="1" u="none" strike="noStrike">
                <a:solidFill>
                  <a:srgbClr val="21295c"/>
                </a:solidFill>
                <a:effectLst/>
                <a:uFillTx/>
                <a:latin typeface="Cambria"/>
                <a:ea typeface="Cambria"/>
              </a:rPr>
              <a:t>Rapor &amp; Çıktı</a:t>
            </a:r>
            <a:endParaRPr lang="en-GB" sz="1450" b="0" u="none" strike="noStrike">
              <a:solidFill>
                <a:srgbClr val="000000"/>
              </a:solidFill>
              <a:effectLst/>
              <a:uFillTx/>
              <a:latin typeface="Arial"/>
            </a:endParaRPr>
          </a:p>
        </p:txBody>
      </p:sp>
      <p:sp>
        <p:nvSpPr>
          <p:cNvPr id="71" name="Text 22"/>
          <p:cNvSpPr/>
          <p:nvPr/>
        </p:nvSpPr>
        <p:spPr>
          <a:xfrm>
            <a:off x="9281160" y="4800600"/>
            <a:ext cx="2148480" cy="776880"/>
          </a:xfrm>
          <a:prstGeom prst="rect">
            <a:avLst/>
          </a:prstGeom>
          <a:noFill/>
          <a:ln w="0">
            <a:noFill/>
          </a:ln>
        </p:spPr>
        <p:style>
          <a:lnRef idx="0"/>
          <a:fillRef idx="0"/>
          <a:effectRef idx="0"/>
          <a:fontRef idx="minor"/>
        </p:style>
        <p:txBody>
          <a:bodyPr lIns="0" rIns="0" tIns="0" bIns="0" anchor="ctr">
            <a:noAutofit/>
          </a:bodyPr>
          <a:p>
            <a:pPr algn="ctr" defTabSz="914400">
              <a:lnSpc>
                <a:spcPts val="1400"/>
              </a:lnSpc>
              <a:tabLst>
                <a:tab algn="l" pos="0"/>
              </a:tabLst>
            </a:pPr>
            <a:r>
              <a:rPr lang="en-US" sz="1100" b="0" u="none" strike="noStrike">
                <a:solidFill>
                  <a:srgbClr val="5a6b78"/>
                </a:solidFill>
                <a:effectLst/>
                <a:uFillTx/>
                <a:latin typeface="Calibri"/>
                <a:ea typeface="Calibri"/>
              </a:rPr>
              <a:t>Standart bazlı rapor ve veri dışa aktarımı</a:t>
            </a:r>
            <a:endParaRPr lang="en-GB"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Text 0"/>
          <p:cNvSpPr/>
          <p:nvPr/>
        </p:nvSpPr>
        <p:spPr>
          <a:xfrm>
            <a:off x="548640" y="164520"/>
            <a:ext cx="91436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pc="201" strike="noStrike">
                <a:solidFill>
                  <a:srgbClr val="1c7293"/>
                </a:solidFill>
                <a:effectLst/>
                <a:uFillTx/>
                <a:latin typeface="Calibri"/>
                <a:ea typeface="Calibri"/>
              </a:rPr>
              <a:t>HEDEF KITLE</a:t>
            </a:r>
            <a:endParaRPr lang="en-GB" sz="1200" b="0" u="none" strike="noStrike">
              <a:solidFill>
                <a:srgbClr val="000000"/>
              </a:solidFill>
              <a:effectLst/>
              <a:uFillTx/>
              <a:latin typeface="Arial"/>
            </a:endParaRPr>
          </a:p>
        </p:txBody>
      </p:sp>
      <p:sp>
        <p:nvSpPr>
          <p:cNvPr id="73" name="Text 1"/>
          <p:cNvSpPr/>
          <p:nvPr/>
        </p:nvSpPr>
        <p:spPr>
          <a:xfrm>
            <a:off x="548640" y="41148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200" b="1" u="none" strike="noStrike">
                <a:solidFill>
                  <a:srgbClr val="21295c"/>
                </a:solidFill>
                <a:effectLst/>
                <a:uFillTx/>
                <a:latin typeface="Cambria"/>
                <a:ea typeface="Cambria"/>
              </a:rPr>
              <a:t>Kimler İçin?</a:t>
            </a:r>
            <a:endParaRPr lang="en-GB" sz="3200" b="0" u="none" strike="noStrike">
              <a:solidFill>
                <a:srgbClr val="000000"/>
              </a:solidFill>
              <a:effectLst/>
              <a:uFillTx/>
              <a:latin typeface="Arial"/>
            </a:endParaRPr>
          </a:p>
        </p:txBody>
      </p:sp>
      <p:sp>
        <p:nvSpPr>
          <p:cNvPr id="74" name="Shape 2"/>
          <p:cNvSpPr/>
          <p:nvPr/>
        </p:nvSpPr>
        <p:spPr>
          <a:xfrm>
            <a:off x="548640" y="1417320"/>
            <a:ext cx="5348880" cy="1965600"/>
          </a:xfrm>
          <a:prstGeom prst="roundRect">
            <a:avLst>
              <a:gd name="adj" fmla="val 3721"/>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75" name="Shape 3"/>
          <p:cNvSpPr/>
          <p:nvPr/>
        </p:nvSpPr>
        <p:spPr>
          <a:xfrm>
            <a:off x="868680" y="1783080"/>
            <a:ext cx="822600" cy="82260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76" name="Image 0" descr="icons/FaUserTie.png"/>
          <p:cNvPicPr/>
          <p:nvPr/>
        </p:nvPicPr>
        <p:blipFill>
          <a:blip r:embed="rId1"/>
          <a:stretch/>
        </p:blipFill>
        <p:spPr>
          <a:xfrm>
            <a:off x="1074600" y="1989000"/>
            <a:ext cx="411120" cy="411120"/>
          </a:xfrm>
          <a:prstGeom prst="rect">
            <a:avLst/>
          </a:prstGeom>
          <a:noFill/>
          <a:ln w="0">
            <a:noFill/>
          </a:ln>
        </p:spPr>
      </p:pic>
      <p:sp>
        <p:nvSpPr>
          <p:cNvPr id="77" name="Text 4"/>
          <p:cNvSpPr/>
          <p:nvPr/>
        </p:nvSpPr>
        <p:spPr>
          <a:xfrm>
            <a:off x="1874520" y="1783080"/>
            <a:ext cx="36572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pc="150" strike="noStrike">
                <a:solidFill>
                  <a:srgbClr val="e0983e"/>
                </a:solidFill>
                <a:effectLst/>
                <a:uFillTx/>
                <a:latin typeface="Calibri"/>
                <a:ea typeface="Calibri"/>
              </a:rPr>
              <a:t>Birincil</a:t>
            </a:r>
            <a:endParaRPr lang="en-GB" sz="1100" b="0" u="none" strike="noStrike">
              <a:solidFill>
                <a:srgbClr val="000000"/>
              </a:solidFill>
              <a:effectLst/>
              <a:uFillTx/>
              <a:latin typeface="Arial"/>
            </a:endParaRPr>
          </a:p>
        </p:txBody>
      </p:sp>
      <p:sp>
        <p:nvSpPr>
          <p:cNvPr id="78" name="Text 5"/>
          <p:cNvSpPr/>
          <p:nvPr/>
        </p:nvSpPr>
        <p:spPr>
          <a:xfrm>
            <a:off x="1874520" y="2057400"/>
            <a:ext cx="3840120" cy="639720"/>
          </a:xfrm>
          <a:prstGeom prst="rect">
            <a:avLst/>
          </a:prstGeom>
          <a:noFill/>
          <a:ln w="0">
            <a:noFill/>
          </a:ln>
        </p:spPr>
        <p:style>
          <a:lnRef idx="0"/>
          <a:fillRef idx="0"/>
          <a:effectRef idx="0"/>
          <a:fontRef idx="minor"/>
        </p:style>
        <p:txBody>
          <a:bodyPr lIns="0" rIns="0" tIns="0" bIns="0" anchor="ctr">
            <a:noAutofit/>
          </a:bodyPr>
          <a:p>
            <a:pPr defTabSz="914400">
              <a:lnSpc>
                <a:spcPts val="2001"/>
              </a:lnSpc>
              <a:tabLst>
                <a:tab algn="l" pos="0"/>
              </a:tabLst>
            </a:pPr>
            <a:r>
              <a:rPr lang="en-US" sz="1650" b="1" u="none" strike="noStrike">
                <a:solidFill>
                  <a:srgbClr val="21295c"/>
                </a:solidFill>
                <a:effectLst/>
                <a:uFillTx/>
                <a:latin typeface="Cambria"/>
                <a:ea typeface="Cambria"/>
              </a:rPr>
              <a:t>ESG / Sürdürülebilirlik Danışmanlık Firmaları</a:t>
            </a:r>
            <a:endParaRPr lang="en-GB" sz="1650" b="0" u="none" strike="noStrike">
              <a:solidFill>
                <a:srgbClr val="000000"/>
              </a:solidFill>
              <a:effectLst/>
              <a:uFillTx/>
              <a:latin typeface="Arial"/>
            </a:endParaRPr>
          </a:p>
        </p:txBody>
      </p:sp>
      <p:sp>
        <p:nvSpPr>
          <p:cNvPr id="79" name="Text 6"/>
          <p:cNvSpPr/>
          <p:nvPr/>
        </p:nvSpPr>
        <p:spPr>
          <a:xfrm>
            <a:off x="1874520" y="2697480"/>
            <a:ext cx="3840120" cy="63972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lang="en-US" sz="1250" b="0" u="none" strike="noStrike">
                <a:solidFill>
                  <a:srgbClr val="5a6b78"/>
                </a:solidFill>
                <a:effectLst/>
                <a:uFillTx/>
                <a:latin typeface="Calibri"/>
                <a:ea typeface="Calibri"/>
              </a:rPr>
              <a:t>Danışman ekipleri ve birden çok müşteri portföyünü yöneten proje liderleri.</a:t>
            </a:r>
            <a:endParaRPr lang="en-GB" sz="1250" b="0" u="none" strike="noStrike">
              <a:solidFill>
                <a:srgbClr val="000000"/>
              </a:solidFill>
              <a:effectLst/>
              <a:uFillTx/>
              <a:latin typeface="Arial"/>
            </a:endParaRPr>
          </a:p>
        </p:txBody>
      </p:sp>
      <p:sp>
        <p:nvSpPr>
          <p:cNvPr id="80" name="Shape 7"/>
          <p:cNvSpPr/>
          <p:nvPr/>
        </p:nvSpPr>
        <p:spPr>
          <a:xfrm>
            <a:off x="6172200" y="1417320"/>
            <a:ext cx="5348880" cy="1965600"/>
          </a:xfrm>
          <a:prstGeom prst="roundRect">
            <a:avLst>
              <a:gd name="adj" fmla="val 3721"/>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81" name="Shape 8"/>
          <p:cNvSpPr/>
          <p:nvPr/>
        </p:nvSpPr>
        <p:spPr>
          <a:xfrm>
            <a:off x="6492240" y="1783080"/>
            <a:ext cx="822600" cy="82260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82" name="Image 1" descr="icons/FaUsers.png"/>
          <p:cNvPicPr/>
          <p:nvPr/>
        </p:nvPicPr>
        <p:blipFill>
          <a:blip r:embed="rId2"/>
          <a:stretch/>
        </p:blipFill>
        <p:spPr>
          <a:xfrm>
            <a:off x="6698160" y="1989000"/>
            <a:ext cx="411120" cy="411120"/>
          </a:xfrm>
          <a:prstGeom prst="rect">
            <a:avLst/>
          </a:prstGeom>
          <a:noFill/>
          <a:ln w="0">
            <a:noFill/>
          </a:ln>
        </p:spPr>
      </p:pic>
      <p:sp>
        <p:nvSpPr>
          <p:cNvPr id="83" name="Text 9"/>
          <p:cNvSpPr/>
          <p:nvPr/>
        </p:nvSpPr>
        <p:spPr>
          <a:xfrm>
            <a:off x="7498080" y="1783080"/>
            <a:ext cx="36572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pc="150" strike="noStrike">
                <a:solidFill>
                  <a:srgbClr val="e0983e"/>
                </a:solidFill>
                <a:effectLst/>
                <a:uFillTx/>
                <a:latin typeface="Calibri"/>
                <a:ea typeface="Calibri"/>
              </a:rPr>
              <a:t>İkincil</a:t>
            </a:r>
            <a:endParaRPr lang="en-GB" sz="1100" b="0" u="none" strike="noStrike">
              <a:solidFill>
                <a:srgbClr val="000000"/>
              </a:solidFill>
              <a:effectLst/>
              <a:uFillTx/>
              <a:latin typeface="Arial"/>
            </a:endParaRPr>
          </a:p>
        </p:txBody>
      </p:sp>
      <p:sp>
        <p:nvSpPr>
          <p:cNvPr id="84" name="Text 10"/>
          <p:cNvSpPr/>
          <p:nvPr/>
        </p:nvSpPr>
        <p:spPr>
          <a:xfrm>
            <a:off x="7498080" y="2057400"/>
            <a:ext cx="3840120" cy="639720"/>
          </a:xfrm>
          <a:prstGeom prst="rect">
            <a:avLst/>
          </a:prstGeom>
          <a:noFill/>
          <a:ln w="0">
            <a:noFill/>
          </a:ln>
        </p:spPr>
        <p:style>
          <a:lnRef idx="0"/>
          <a:fillRef idx="0"/>
          <a:effectRef idx="0"/>
          <a:fontRef idx="minor"/>
        </p:style>
        <p:txBody>
          <a:bodyPr lIns="0" rIns="0" tIns="0" bIns="0" anchor="ctr">
            <a:noAutofit/>
          </a:bodyPr>
          <a:p>
            <a:pPr defTabSz="914400">
              <a:lnSpc>
                <a:spcPts val="2001"/>
              </a:lnSpc>
              <a:tabLst>
                <a:tab algn="l" pos="0"/>
              </a:tabLst>
            </a:pPr>
            <a:r>
              <a:rPr lang="en-US" sz="1650" b="1" u="none" strike="noStrike">
                <a:solidFill>
                  <a:srgbClr val="21295c"/>
                </a:solidFill>
                <a:effectLst/>
                <a:uFillTx/>
                <a:latin typeface="Cambria"/>
                <a:ea typeface="Cambria"/>
              </a:rPr>
              <a:t>Müşteri Firmalar ve Paydaşları</a:t>
            </a:r>
            <a:endParaRPr lang="en-GB" sz="1650" b="0" u="none" strike="noStrike">
              <a:solidFill>
                <a:srgbClr val="000000"/>
              </a:solidFill>
              <a:effectLst/>
              <a:uFillTx/>
              <a:latin typeface="Arial"/>
            </a:endParaRPr>
          </a:p>
        </p:txBody>
      </p:sp>
      <p:sp>
        <p:nvSpPr>
          <p:cNvPr id="85" name="Text 11"/>
          <p:cNvSpPr/>
          <p:nvPr/>
        </p:nvSpPr>
        <p:spPr>
          <a:xfrm>
            <a:off x="7498080" y="2697480"/>
            <a:ext cx="3840120" cy="63972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lang="en-US" sz="1250" b="0" u="none" strike="noStrike">
                <a:solidFill>
                  <a:srgbClr val="5a6b78"/>
                </a:solidFill>
                <a:effectLst/>
                <a:uFillTx/>
                <a:latin typeface="Calibri"/>
                <a:ea typeface="Calibri"/>
              </a:rPr>
              <a:t>Danışmanların hizmet verdiği firmaların iç katılımcıları ve dış paydaşları.</a:t>
            </a:r>
            <a:endParaRPr lang="en-GB" sz="1250" b="0" u="none" strike="noStrike">
              <a:solidFill>
                <a:srgbClr val="000000"/>
              </a:solidFill>
              <a:effectLst/>
              <a:uFillTx/>
              <a:latin typeface="Arial"/>
            </a:endParaRPr>
          </a:p>
        </p:txBody>
      </p:sp>
      <p:sp>
        <p:nvSpPr>
          <p:cNvPr id="86" name="Text 12"/>
          <p:cNvSpPr/>
          <p:nvPr/>
        </p:nvSpPr>
        <p:spPr>
          <a:xfrm>
            <a:off x="548640" y="3703320"/>
            <a:ext cx="109724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500" b="1" u="none" strike="noStrike">
                <a:solidFill>
                  <a:srgbClr val="21295c"/>
                </a:solidFill>
                <a:effectLst/>
                <a:uFillTx/>
                <a:latin typeface="Cambria"/>
                <a:ea typeface="Cambria"/>
              </a:rPr>
              <a:t>Rol Tabanlı Erişim — Herkes Yalnızca Kendi İşini Görür</a:t>
            </a:r>
            <a:endParaRPr lang="en-GB" sz="1500" b="0" u="none" strike="noStrike">
              <a:solidFill>
                <a:srgbClr val="000000"/>
              </a:solidFill>
              <a:effectLst/>
              <a:uFillTx/>
              <a:latin typeface="Arial"/>
            </a:endParaRPr>
          </a:p>
        </p:txBody>
      </p:sp>
      <p:sp>
        <p:nvSpPr>
          <p:cNvPr id="87" name="Shape 13"/>
          <p:cNvSpPr/>
          <p:nvPr/>
        </p:nvSpPr>
        <p:spPr>
          <a:xfrm>
            <a:off x="548640" y="4206240"/>
            <a:ext cx="1782720" cy="502560"/>
          </a:xfrm>
          <a:prstGeom prst="roundRect">
            <a:avLst>
              <a:gd name="adj" fmla="val 49091"/>
            </a:avLst>
          </a:prstGeom>
          <a:solidFill>
            <a:srgbClr val="eff5f8"/>
          </a:solidFill>
          <a:ln w="12700">
            <a:solidFill>
              <a:srgbClr val="1c7293"/>
            </a:solidFill>
            <a:round/>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88" name="Text 14"/>
          <p:cNvSpPr/>
          <p:nvPr/>
        </p:nvSpPr>
        <p:spPr>
          <a:xfrm>
            <a:off x="594360" y="4206240"/>
            <a:ext cx="169128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50" b="1" u="none" strike="noStrike">
                <a:solidFill>
                  <a:srgbClr val="21295c"/>
                </a:solidFill>
                <a:effectLst/>
                <a:uFillTx/>
                <a:latin typeface="Calibri"/>
                <a:ea typeface="Calibri"/>
              </a:rPr>
              <a:t>Platform Yöneticisi</a:t>
            </a:r>
            <a:endParaRPr lang="en-GB" sz="1050" b="0" u="none" strike="noStrike">
              <a:solidFill>
                <a:srgbClr val="000000"/>
              </a:solidFill>
              <a:effectLst/>
              <a:uFillTx/>
              <a:latin typeface="Arial"/>
            </a:endParaRPr>
          </a:p>
        </p:txBody>
      </p:sp>
      <p:sp>
        <p:nvSpPr>
          <p:cNvPr id="89" name="Shape 15"/>
          <p:cNvSpPr/>
          <p:nvPr/>
        </p:nvSpPr>
        <p:spPr>
          <a:xfrm>
            <a:off x="2468880" y="4206240"/>
            <a:ext cx="1782720" cy="502560"/>
          </a:xfrm>
          <a:prstGeom prst="roundRect">
            <a:avLst>
              <a:gd name="adj" fmla="val 49091"/>
            </a:avLst>
          </a:prstGeom>
          <a:solidFill>
            <a:srgbClr val="eff5f8"/>
          </a:solidFill>
          <a:ln w="12700">
            <a:solidFill>
              <a:srgbClr val="1c7293"/>
            </a:solidFill>
            <a:round/>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90" name="Text 16"/>
          <p:cNvSpPr/>
          <p:nvPr/>
        </p:nvSpPr>
        <p:spPr>
          <a:xfrm>
            <a:off x="2514600" y="4206240"/>
            <a:ext cx="169128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50" b="1" u="none" strike="noStrike">
                <a:solidFill>
                  <a:srgbClr val="21295c"/>
                </a:solidFill>
                <a:effectLst/>
                <a:uFillTx/>
                <a:latin typeface="Calibri"/>
                <a:ea typeface="Calibri"/>
              </a:rPr>
              <a:t>Danışman Yöneticisi</a:t>
            </a:r>
            <a:endParaRPr lang="en-GB" sz="1050" b="0" u="none" strike="noStrike">
              <a:solidFill>
                <a:srgbClr val="000000"/>
              </a:solidFill>
              <a:effectLst/>
              <a:uFillTx/>
              <a:latin typeface="Arial"/>
            </a:endParaRPr>
          </a:p>
        </p:txBody>
      </p:sp>
      <p:sp>
        <p:nvSpPr>
          <p:cNvPr id="91" name="Shape 17"/>
          <p:cNvSpPr/>
          <p:nvPr/>
        </p:nvSpPr>
        <p:spPr>
          <a:xfrm>
            <a:off x="4389120" y="4206240"/>
            <a:ext cx="1782720" cy="502560"/>
          </a:xfrm>
          <a:prstGeom prst="roundRect">
            <a:avLst>
              <a:gd name="adj" fmla="val 49091"/>
            </a:avLst>
          </a:prstGeom>
          <a:solidFill>
            <a:srgbClr val="eff5f8"/>
          </a:solidFill>
          <a:ln w="12700">
            <a:solidFill>
              <a:srgbClr val="1c7293"/>
            </a:solidFill>
            <a:round/>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92" name="Text 18"/>
          <p:cNvSpPr/>
          <p:nvPr/>
        </p:nvSpPr>
        <p:spPr>
          <a:xfrm>
            <a:off x="4434840" y="4206240"/>
            <a:ext cx="169128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50" b="1" u="none" strike="noStrike">
                <a:solidFill>
                  <a:srgbClr val="21295c"/>
                </a:solidFill>
                <a:effectLst/>
                <a:uFillTx/>
                <a:latin typeface="Calibri"/>
                <a:ea typeface="Calibri"/>
              </a:rPr>
              <a:t>Danışman</a:t>
            </a:r>
            <a:endParaRPr lang="en-GB" sz="1050" b="0" u="none" strike="noStrike">
              <a:solidFill>
                <a:srgbClr val="000000"/>
              </a:solidFill>
              <a:effectLst/>
              <a:uFillTx/>
              <a:latin typeface="Arial"/>
            </a:endParaRPr>
          </a:p>
        </p:txBody>
      </p:sp>
      <p:sp>
        <p:nvSpPr>
          <p:cNvPr id="93" name="Shape 19"/>
          <p:cNvSpPr/>
          <p:nvPr/>
        </p:nvSpPr>
        <p:spPr>
          <a:xfrm>
            <a:off x="6309360" y="4206240"/>
            <a:ext cx="1782720" cy="502560"/>
          </a:xfrm>
          <a:prstGeom prst="roundRect">
            <a:avLst>
              <a:gd name="adj" fmla="val 49091"/>
            </a:avLst>
          </a:prstGeom>
          <a:solidFill>
            <a:srgbClr val="eff5f8"/>
          </a:solidFill>
          <a:ln w="12700">
            <a:solidFill>
              <a:srgbClr val="1c7293"/>
            </a:solidFill>
            <a:round/>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94" name="Text 20"/>
          <p:cNvSpPr/>
          <p:nvPr/>
        </p:nvSpPr>
        <p:spPr>
          <a:xfrm>
            <a:off x="6355080" y="4206240"/>
            <a:ext cx="169128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50" b="1" u="none" strike="noStrike">
                <a:solidFill>
                  <a:srgbClr val="21295c"/>
                </a:solidFill>
                <a:effectLst/>
                <a:uFillTx/>
                <a:latin typeface="Calibri"/>
                <a:ea typeface="Calibri"/>
              </a:rPr>
              <a:t>Proje Katılımcısı</a:t>
            </a:r>
            <a:endParaRPr lang="en-GB" sz="1050" b="0" u="none" strike="noStrike">
              <a:solidFill>
                <a:srgbClr val="000000"/>
              </a:solidFill>
              <a:effectLst/>
              <a:uFillTx/>
              <a:latin typeface="Arial"/>
            </a:endParaRPr>
          </a:p>
        </p:txBody>
      </p:sp>
      <p:sp>
        <p:nvSpPr>
          <p:cNvPr id="95" name="Shape 21"/>
          <p:cNvSpPr/>
          <p:nvPr/>
        </p:nvSpPr>
        <p:spPr>
          <a:xfrm>
            <a:off x="8229600" y="4206240"/>
            <a:ext cx="1782720" cy="502560"/>
          </a:xfrm>
          <a:prstGeom prst="roundRect">
            <a:avLst>
              <a:gd name="adj" fmla="val 49091"/>
            </a:avLst>
          </a:prstGeom>
          <a:solidFill>
            <a:srgbClr val="eff5f8"/>
          </a:solidFill>
          <a:ln w="12700">
            <a:solidFill>
              <a:srgbClr val="1c7293"/>
            </a:solidFill>
            <a:round/>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96" name="Text 22"/>
          <p:cNvSpPr/>
          <p:nvPr/>
        </p:nvSpPr>
        <p:spPr>
          <a:xfrm>
            <a:off x="8275320" y="4206240"/>
            <a:ext cx="169128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50" b="1" u="none" strike="noStrike">
                <a:solidFill>
                  <a:srgbClr val="21295c"/>
                </a:solidFill>
                <a:effectLst/>
                <a:uFillTx/>
                <a:latin typeface="Calibri"/>
                <a:ea typeface="Calibri"/>
              </a:rPr>
              <a:t>Firma Kullanıcısı</a:t>
            </a:r>
            <a:endParaRPr lang="en-GB" sz="1050" b="0" u="none" strike="noStrike">
              <a:solidFill>
                <a:srgbClr val="000000"/>
              </a:solidFill>
              <a:effectLst/>
              <a:uFillTx/>
              <a:latin typeface="Arial"/>
            </a:endParaRPr>
          </a:p>
        </p:txBody>
      </p:sp>
      <p:sp>
        <p:nvSpPr>
          <p:cNvPr id="97" name="Shape 23"/>
          <p:cNvSpPr/>
          <p:nvPr/>
        </p:nvSpPr>
        <p:spPr>
          <a:xfrm>
            <a:off x="10149840" y="4206240"/>
            <a:ext cx="1782720" cy="502560"/>
          </a:xfrm>
          <a:prstGeom prst="roundRect">
            <a:avLst>
              <a:gd name="adj" fmla="val 49091"/>
            </a:avLst>
          </a:prstGeom>
          <a:solidFill>
            <a:srgbClr val="eff5f8"/>
          </a:solidFill>
          <a:ln w="12700">
            <a:solidFill>
              <a:srgbClr val="1c7293"/>
            </a:solidFill>
            <a:round/>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98" name="Text 24"/>
          <p:cNvSpPr/>
          <p:nvPr/>
        </p:nvSpPr>
        <p:spPr>
          <a:xfrm>
            <a:off x="10195560" y="4206240"/>
            <a:ext cx="169128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50" b="1" u="none" strike="noStrike">
                <a:solidFill>
                  <a:srgbClr val="21295c"/>
                </a:solidFill>
                <a:effectLst/>
                <a:uFillTx/>
                <a:latin typeface="Calibri"/>
                <a:ea typeface="Calibri"/>
              </a:rPr>
              <a:t>Denetçi</a:t>
            </a:r>
            <a:endParaRPr lang="en-GB" sz="1050" b="0" u="none" strike="noStrike">
              <a:solidFill>
                <a:srgbClr val="000000"/>
              </a:solidFill>
              <a:effectLst/>
              <a:uFillTx/>
              <a:latin typeface="Arial"/>
            </a:endParaRPr>
          </a:p>
        </p:txBody>
      </p:sp>
      <p:sp>
        <p:nvSpPr>
          <p:cNvPr id="99" name="Text 25"/>
          <p:cNvSpPr/>
          <p:nvPr/>
        </p:nvSpPr>
        <p:spPr>
          <a:xfrm>
            <a:off x="548640" y="5074920"/>
            <a:ext cx="11063880" cy="54828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lang="en-US" sz="1250" b="0" i="1" u="none" strike="noStrike">
                <a:solidFill>
                  <a:srgbClr val="5a6b78"/>
                </a:solidFill>
                <a:effectLst/>
                <a:uFillTx/>
                <a:latin typeface="Calibri"/>
                <a:ea typeface="Calibri"/>
              </a:rPr>
              <a:t>Platformun dili danışmanlık dünyasına göre tasarlandı: Firma (müşteri şirket) · Şube (lokasyon) · Atama (iş dağıtımı) · Görev (yapılacaklar takibi).</a:t>
            </a:r>
            <a:endParaRPr lang="en-GB"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Text 0"/>
          <p:cNvSpPr/>
          <p:nvPr/>
        </p:nvSpPr>
        <p:spPr>
          <a:xfrm>
            <a:off x="548640" y="164520"/>
            <a:ext cx="91436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pc="201" strike="noStrike">
                <a:solidFill>
                  <a:srgbClr val="1c7293"/>
                </a:solidFill>
                <a:effectLst/>
                <a:uFillTx/>
                <a:latin typeface="Calibri"/>
                <a:ea typeface="Calibri"/>
              </a:rPr>
              <a:t>DEĞER ÖNERISI</a:t>
            </a:r>
            <a:endParaRPr lang="en-GB" sz="1200" b="0" u="none" strike="noStrike">
              <a:solidFill>
                <a:srgbClr val="000000"/>
              </a:solidFill>
              <a:effectLst/>
              <a:uFillTx/>
              <a:latin typeface="Arial"/>
            </a:endParaRPr>
          </a:p>
        </p:txBody>
      </p:sp>
      <p:sp>
        <p:nvSpPr>
          <p:cNvPr id="101" name="Text 1"/>
          <p:cNvSpPr/>
          <p:nvPr/>
        </p:nvSpPr>
        <p:spPr>
          <a:xfrm>
            <a:off x="548640" y="41148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200" b="1" u="none" strike="noStrike">
                <a:solidFill>
                  <a:srgbClr val="21295c"/>
                </a:solidFill>
                <a:effectLst/>
                <a:uFillTx/>
                <a:latin typeface="Cambria"/>
                <a:ea typeface="Cambria"/>
              </a:rPr>
              <a:t>Danışmanınıza ve Ekibinize Kazandırdıkları</a:t>
            </a:r>
            <a:endParaRPr lang="en-GB" sz="3200" b="0" u="none" strike="noStrike">
              <a:solidFill>
                <a:srgbClr val="000000"/>
              </a:solidFill>
              <a:effectLst/>
              <a:uFillTx/>
              <a:latin typeface="Arial"/>
            </a:endParaRPr>
          </a:p>
        </p:txBody>
      </p:sp>
      <p:sp>
        <p:nvSpPr>
          <p:cNvPr id="102" name="Shape 2"/>
          <p:cNvSpPr/>
          <p:nvPr/>
        </p:nvSpPr>
        <p:spPr>
          <a:xfrm>
            <a:off x="548640" y="1417320"/>
            <a:ext cx="2624040" cy="2422800"/>
          </a:xfrm>
          <a:prstGeom prst="roundRect">
            <a:avLst>
              <a:gd name="adj" fmla="val 3019"/>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03" name="Shape 3"/>
          <p:cNvSpPr/>
          <p:nvPr/>
        </p:nvSpPr>
        <p:spPr>
          <a:xfrm>
            <a:off x="1517760" y="1691640"/>
            <a:ext cx="685440" cy="68544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04" name="Image 0" descr="icons/FaBuilding.png"/>
          <p:cNvPicPr/>
          <p:nvPr/>
        </p:nvPicPr>
        <p:blipFill>
          <a:blip r:embed="rId1"/>
          <a:stretch/>
        </p:blipFill>
        <p:spPr>
          <a:xfrm>
            <a:off x="1689480" y="1863000"/>
            <a:ext cx="342720" cy="342720"/>
          </a:xfrm>
          <a:prstGeom prst="rect">
            <a:avLst/>
          </a:prstGeom>
          <a:noFill/>
          <a:ln w="0">
            <a:noFill/>
          </a:ln>
        </p:spPr>
      </p:pic>
      <p:sp>
        <p:nvSpPr>
          <p:cNvPr id="105" name="Text 4"/>
          <p:cNvSpPr/>
          <p:nvPr/>
        </p:nvSpPr>
        <p:spPr>
          <a:xfrm>
            <a:off x="685800" y="2514600"/>
            <a:ext cx="23497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50" b="1" u="none" strike="noStrike">
                <a:solidFill>
                  <a:srgbClr val="21295c"/>
                </a:solidFill>
                <a:effectLst/>
                <a:uFillTx/>
                <a:latin typeface="Cambria"/>
                <a:ea typeface="Cambria"/>
              </a:rPr>
              <a:t>Tek Merkez</a:t>
            </a:r>
            <a:endParaRPr lang="en-GB" sz="1350" b="0" u="none" strike="noStrike">
              <a:solidFill>
                <a:srgbClr val="000000"/>
              </a:solidFill>
              <a:effectLst/>
              <a:uFillTx/>
              <a:latin typeface="Arial"/>
            </a:endParaRPr>
          </a:p>
        </p:txBody>
      </p:sp>
      <p:sp>
        <p:nvSpPr>
          <p:cNvPr id="106" name="Text 5"/>
          <p:cNvSpPr/>
          <p:nvPr/>
        </p:nvSpPr>
        <p:spPr>
          <a:xfrm>
            <a:off x="713160" y="2926080"/>
            <a:ext cx="2294640" cy="822600"/>
          </a:xfrm>
          <a:prstGeom prst="rect">
            <a:avLst/>
          </a:prstGeom>
          <a:noFill/>
          <a:ln w="0">
            <a:noFill/>
          </a:ln>
        </p:spPr>
        <p:style>
          <a:lnRef idx="0"/>
          <a:fillRef idx="0"/>
          <a:effectRef idx="0"/>
          <a:fontRef idx="minor"/>
        </p:style>
        <p:txBody>
          <a:bodyPr lIns="0" rIns="0" tIns="0" bIns="0" anchor="ctr">
            <a:noAutofit/>
          </a:bodyPr>
          <a:p>
            <a:pPr algn="ctr" defTabSz="914400">
              <a:lnSpc>
                <a:spcPts val="1301"/>
              </a:lnSpc>
              <a:tabLst>
                <a:tab algn="l" pos="0"/>
              </a:tabLst>
            </a:pPr>
            <a:r>
              <a:rPr lang="en-US" sz="1050" b="0" u="none" strike="noStrike">
                <a:solidFill>
                  <a:srgbClr val="5a6b78"/>
                </a:solidFill>
                <a:effectLst/>
                <a:uFillTx/>
                <a:latin typeface="Calibri"/>
                <a:ea typeface="Calibri"/>
              </a:rPr>
              <a:t>Tüm müşteriler, projeler ve veriler tek platformda.</a:t>
            </a:r>
            <a:endParaRPr lang="en-GB" sz="1050" b="0" u="none" strike="noStrike">
              <a:solidFill>
                <a:srgbClr val="000000"/>
              </a:solidFill>
              <a:effectLst/>
              <a:uFillTx/>
              <a:latin typeface="Arial"/>
            </a:endParaRPr>
          </a:p>
        </p:txBody>
      </p:sp>
      <p:sp>
        <p:nvSpPr>
          <p:cNvPr id="107" name="Shape 6"/>
          <p:cNvSpPr/>
          <p:nvPr/>
        </p:nvSpPr>
        <p:spPr>
          <a:xfrm>
            <a:off x="3374280" y="1417320"/>
            <a:ext cx="2624040" cy="2422800"/>
          </a:xfrm>
          <a:prstGeom prst="roundRect">
            <a:avLst>
              <a:gd name="adj" fmla="val 3019"/>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08" name="Shape 7"/>
          <p:cNvSpPr/>
          <p:nvPr/>
        </p:nvSpPr>
        <p:spPr>
          <a:xfrm>
            <a:off x="4343400" y="1691640"/>
            <a:ext cx="685440" cy="68544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09" name="Image 1" descr="icons/FaBolt.png"/>
          <p:cNvPicPr/>
          <p:nvPr/>
        </p:nvPicPr>
        <p:blipFill>
          <a:blip r:embed="rId2"/>
          <a:stretch/>
        </p:blipFill>
        <p:spPr>
          <a:xfrm>
            <a:off x="4514760" y="1863000"/>
            <a:ext cx="342720" cy="342720"/>
          </a:xfrm>
          <a:prstGeom prst="rect">
            <a:avLst/>
          </a:prstGeom>
          <a:noFill/>
          <a:ln w="0">
            <a:noFill/>
          </a:ln>
        </p:spPr>
      </p:pic>
      <p:sp>
        <p:nvSpPr>
          <p:cNvPr id="110" name="Text 8"/>
          <p:cNvSpPr/>
          <p:nvPr/>
        </p:nvSpPr>
        <p:spPr>
          <a:xfrm>
            <a:off x="3511440" y="2514600"/>
            <a:ext cx="23497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50" b="1" u="none" strike="noStrike">
                <a:solidFill>
                  <a:srgbClr val="21295c"/>
                </a:solidFill>
                <a:effectLst/>
                <a:uFillTx/>
                <a:latin typeface="Cambria"/>
                <a:ea typeface="Cambria"/>
              </a:rPr>
              <a:t>Hız</a:t>
            </a:r>
            <a:endParaRPr lang="en-GB" sz="1350" b="0" u="none" strike="noStrike">
              <a:solidFill>
                <a:srgbClr val="000000"/>
              </a:solidFill>
              <a:effectLst/>
              <a:uFillTx/>
              <a:latin typeface="Arial"/>
            </a:endParaRPr>
          </a:p>
        </p:txBody>
      </p:sp>
      <p:sp>
        <p:nvSpPr>
          <p:cNvPr id="111" name="Text 9"/>
          <p:cNvSpPr/>
          <p:nvPr/>
        </p:nvSpPr>
        <p:spPr>
          <a:xfrm>
            <a:off x="3538800" y="2926080"/>
            <a:ext cx="2294640" cy="822600"/>
          </a:xfrm>
          <a:prstGeom prst="rect">
            <a:avLst/>
          </a:prstGeom>
          <a:noFill/>
          <a:ln w="0">
            <a:noFill/>
          </a:ln>
        </p:spPr>
        <p:style>
          <a:lnRef idx="0"/>
          <a:fillRef idx="0"/>
          <a:effectRef idx="0"/>
          <a:fontRef idx="minor"/>
        </p:style>
        <p:txBody>
          <a:bodyPr lIns="0" rIns="0" tIns="0" bIns="0" anchor="ctr">
            <a:noAutofit/>
          </a:bodyPr>
          <a:p>
            <a:pPr algn="ctr" defTabSz="914400">
              <a:lnSpc>
                <a:spcPts val="1301"/>
              </a:lnSpc>
              <a:tabLst>
                <a:tab algn="l" pos="0"/>
              </a:tabLst>
            </a:pPr>
            <a:r>
              <a:rPr lang="en-US" sz="1050" b="0" u="none" strike="noStrike">
                <a:solidFill>
                  <a:srgbClr val="5a6b78"/>
                </a:solidFill>
                <a:effectLst/>
                <a:uFillTx/>
                <a:latin typeface="Calibri"/>
                <a:ea typeface="Calibri"/>
              </a:rPr>
              <a:t>Şablon tabanlı anketler ve otomatik iş dağıtımı.</a:t>
            </a:r>
            <a:endParaRPr lang="en-GB" sz="1050" b="0" u="none" strike="noStrike">
              <a:solidFill>
                <a:srgbClr val="000000"/>
              </a:solidFill>
              <a:effectLst/>
              <a:uFillTx/>
              <a:latin typeface="Arial"/>
            </a:endParaRPr>
          </a:p>
        </p:txBody>
      </p:sp>
      <p:sp>
        <p:nvSpPr>
          <p:cNvPr id="112" name="Shape 10"/>
          <p:cNvSpPr/>
          <p:nvPr/>
        </p:nvSpPr>
        <p:spPr>
          <a:xfrm>
            <a:off x="6199560" y="1417320"/>
            <a:ext cx="2624040" cy="2422800"/>
          </a:xfrm>
          <a:prstGeom prst="roundRect">
            <a:avLst>
              <a:gd name="adj" fmla="val 3019"/>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13" name="Shape 11"/>
          <p:cNvSpPr/>
          <p:nvPr/>
        </p:nvSpPr>
        <p:spPr>
          <a:xfrm>
            <a:off x="7169040" y="1691640"/>
            <a:ext cx="685440" cy="68544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14" name="Image 2" descr="icons/FaShieldAlt.png"/>
          <p:cNvPicPr/>
          <p:nvPr/>
        </p:nvPicPr>
        <p:blipFill>
          <a:blip r:embed="rId3"/>
          <a:stretch/>
        </p:blipFill>
        <p:spPr>
          <a:xfrm>
            <a:off x="7340400" y="1863000"/>
            <a:ext cx="342720" cy="342720"/>
          </a:xfrm>
          <a:prstGeom prst="rect">
            <a:avLst/>
          </a:prstGeom>
          <a:noFill/>
          <a:ln w="0">
            <a:noFill/>
          </a:ln>
        </p:spPr>
      </p:pic>
      <p:sp>
        <p:nvSpPr>
          <p:cNvPr id="115" name="Text 12"/>
          <p:cNvSpPr/>
          <p:nvPr/>
        </p:nvSpPr>
        <p:spPr>
          <a:xfrm>
            <a:off x="6336720" y="2514600"/>
            <a:ext cx="23497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50" b="1" u="none" strike="noStrike">
                <a:solidFill>
                  <a:srgbClr val="21295c"/>
                </a:solidFill>
                <a:effectLst/>
                <a:uFillTx/>
                <a:latin typeface="Cambria"/>
                <a:ea typeface="Cambria"/>
              </a:rPr>
              <a:t>Güven</a:t>
            </a:r>
            <a:endParaRPr lang="en-GB" sz="1350" b="0" u="none" strike="noStrike">
              <a:solidFill>
                <a:srgbClr val="000000"/>
              </a:solidFill>
              <a:effectLst/>
              <a:uFillTx/>
              <a:latin typeface="Arial"/>
            </a:endParaRPr>
          </a:p>
        </p:txBody>
      </p:sp>
      <p:sp>
        <p:nvSpPr>
          <p:cNvPr id="116" name="Text 13"/>
          <p:cNvSpPr/>
          <p:nvPr/>
        </p:nvSpPr>
        <p:spPr>
          <a:xfrm>
            <a:off x="6364080" y="2926080"/>
            <a:ext cx="2294640" cy="822600"/>
          </a:xfrm>
          <a:prstGeom prst="rect">
            <a:avLst/>
          </a:prstGeom>
          <a:noFill/>
          <a:ln w="0">
            <a:noFill/>
          </a:ln>
        </p:spPr>
        <p:style>
          <a:lnRef idx="0"/>
          <a:fillRef idx="0"/>
          <a:effectRef idx="0"/>
          <a:fontRef idx="minor"/>
        </p:style>
        <p:txBody>
          <a:bodyPr lIns="0" rIns="0" tIns="0" bIns="0" anchor="ctr">
            <a:noAutofit/>
          </a:bodyPr>
          <a:p>
            <a:pPr algn="ctr" defTabSz="914400">
              <a:lnSpc>
                <a:spcPts val="1301"/>
              </a:lnSpc>
              <a:tabLst>
                <a:tab algn="l" pos="0"/>
              </a:tabLst>
            </a:pPr>
            <a:r>
              <a:rPr lang="en-US" sz="1050" b="0" u="none" strike="noStrike">
                <a:solidFill>
                  <a:srgbClr val="5a6b78"/>
                </a:solidFill>
                <a:effectLst/>
                <a:uFillTx/>
                <a:latin typeface="Calibri"/>
                <a:ea typeface="Calibri"/>
              </a:rPr>
              <a:t>Tam denetim izi; kim, ne zaman girdi bellidir.</a:t>
            </a:r>
            <a:endParaRPr lang="en-GB" sz="1050" b="0" u="none" strike="noStrike">
              <a:solidFill>
                <a:srgbClr val="000000"/>
              </a:solidFill>
              <a:effectLst/>
              <a:uFillTx/>
              <a:latin typeface="Arial"/>
            </a:endParaRPr>
          </a:p>
        </p:txBody>
      </p:sp>
      <p:sp>
        <p:nvSpPr>
          <p:cNvPr id="117" name="Shape 14"/>
          <p:cNvSpPr/>
          <p:nvPr/>
        </p:nvSpPr>
        <p:spPr>
          <a:xfrm>
            <a:off x="9025200" y="1417320"/>
            <a:ext cx="2624040" cy="2422800"/>
          </a:xfrm>
          <a:prstGeom prst="roundRect">
            <a:avLst>
              <a:gd name="adj" fmla="val 3019"/>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18" name="Shape 15"/>
          <p:cNvSpPr/>
          <p:nvPr/>
        </p:nvSpPr>
        <p:spPr>
          <a:xfrm>
            <a:off x="9994320" y="1691640"/>
            <a:ext cx="685440" cy="68544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19" name="Image 3" descr="icons/FaCheckDouble.png"/>
          <p:cNvPicPr/>
          <p:nvPr/>
        </p:nvPicPr>
        <p:blipFill>
          <a:blip r:embed="rId4"/>
          <a:stretch/>
        </p:blipFill>
        <p:spPr>
          <a:xfrm>
            <a:off x="10165680" y="1863000"/>
            <a:ext cx="342720" cy="342720"/>
          </a:xfrm>
          <a:prstGeom prst="rect">
            <a:avLst/>
          </a:prstGeom>
          <a:noFill/>
          <a:ln w="0">
            <a:noFill/>
          </a:ln>
        </p:spPr>
      </p:pic>
      <p:sp>
        <p:nvSpPr>
          <p:cNvPr id="120" name="Text 16"/>
          <p:cNvSpPr/>
          <p:nvPr/>
        </p:nvSpPr>
        <p:spPr>
          <a:xfrm>
            <a:off x="9162360" y="2514600"/>
            <a:ext cx="23497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50" b="1" u="none" strike="noStrike">
                <a:solidFill>
                  <a:srgbClr val="21295c"/>
                </a:solidFill>
                <a:effectLst/>
                <a:uFillTx/>
                <a:latin typeface="Cambria"/>
                <a:ea typeface="Cambria"/>
              </a:rPr>
              <a:t>Doğruluk</a:t>
            </a:r>
            <a:endParaRPr lang="en-GB" sz="1350" b="0" u="none" strike="noStrike">
              <a:solidFill>
                <a:srgbClr val="000000"/>
              </a:solidFill>
              <a:effectLst/>
              <a:uFillTx/>
              <a:latin typeface="Arial"/>
            </a:endParaRPr>
          </a:p>
        </p:txBody>
      </p:sp>
      <p:sp>
        <p:nvSpPr>
          <p:cNvPr id="121" name="Text 17"/>
          <p:cNvSpPr/>
          <p:nvPr/>
        </p:nvSpPr>
        <p:spPr>
          <a:xfrm>
            <a:off x="9189720" y="2926080"/>
            <a:ext cx="2294640" cy="822600"/>
          </a:xfrm>
          <a:prstGeom prst="rect">
            <a:avLst/>
          </a:prstGeom>
          <a:noFill/>
          <a:ln w="0">
            <a:noFill/>
          </a:ln>
        </p:spPr>
        <p:style>
          <a:lnRef idx="0"/>
          <a:fillRef idx="0"/>
          <a:effectRef idx="0"/>
          <a:fontRef idx="minor"/>
        </p:style>
        <p:txBody>
          <a:bodyPr lIns="0" rIns="0" tIns="0" bIns="0" anchor="ctr">
            <a:noAutofit/>
          </a:bodyPr>
          <a:p>
            <a:pPr algn="ctr" defTabSz="914400">
              <a:lnSpc>
                <a:spcPts val="1301"/>
              </a:lnSpc>
              <a:tabLst>
                <a:tab algn="l" pos="0"/>
              </a:tabLst>
            </a:pPr>
            <a:r>
              <a:rPr lang="en-US" sz="1050" b="0" u="none" strike="noStrike">
                <a:solidFill>
                  <a:srgbClr val="5a6b78"/>
                </a:solidFill>
                <a:effectLst/>
                <a:uFillTx/>
                <a:latin typeface="Calibri"/>
                <a:ea typeface="Calibri"/>
              </a:rPr>
              <a:t>Çerçeveler arası tutarlılık denetimi.</a:t>
            </a:r>
            <a:endParaRPr lang="en-GB" sz="1050" b="0" u="none" strike="noStrike">
              <a:solidFill>
                <a:srgbClr val="000000"/>
              </a:solidFill>
              <a:effectLst/>
              <a:uFillTx/>
              <a:latin typeface="Arial"/>
            </a:endParaRPr>
          </a:p>
        </p:txBody>
      </p:sp>
      <p:sp>
        <p:nvSpPr>
          <p:cNvPr id="122" name="Shape 18"/>
          <p:cNvSpPr/>
          <p:nvPr/>
        </p:nvSpPr>
        <p:spPr>
          <a:xfrm>
            <a:off x="548640" y="4069080"/>
            <a:ext cx="2624040" cy="2422800"/>
          </a:xfrm>
          <a:prstGeom prst="roundRect">
            <a:avLst>
              <a:gd name="adj" fmla="val 3019"/>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23" name="Shape 19"/>
          <p:cNvSpPr/>
          <p:nvPr/>
        </p:nvSpPr>
        <p:spPr>
          <a:xfrm>
            <a:off x="1517760" y="4343400"/>
            <a:ext cx="685440" cy="68544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24" name="Image 4" descr="icons/FaHandsHelping.png"/>
          <p:cNvPicPr/>
          <p:nvPr/>
        </p:nvPicPr>
        <p:blipFill>
          <a:blip r:embed="rId5"/>
          <a:stretch/>
        </p:blipFill>
        <p:spPr>
          <a:xfrm>
            <a:off x="1689480" y="4514760"/>
            <a:ext cx="342720" cy="342720"/>
          </a:xfrm>
          <a:prstGeom prst="rect">
            <a:avLst/>
          </a:prstGeom>
          <a:noFill/>
          <a:ln w="0">
            <a:noFill/>
          </a:ln>
        </p:spPr>
      </p:pic>
      <p:sp>
        <p:nvSpPr>
          <p:cNvPr id="125" name="Text 20"/>
          <p:cNvSpPr/>
          <p:nvPr/>
        </p:nvSpPr>
        <p:spPr>
          <a:xfrm>
            <a:off x="685800" y="5166360"/>
            <a:ext cx="23497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50" b="1" u="none" strike="noStrike">
                <a:solidFill>
                  <a:srgbClr val="21295c"/>
                </a:solidFill>
                <a:effectLst/>
                <a:uFillTx/>
                <a:latin typeface="Cambria"/>
                <a:ea typeface="Cambria"/>
              </a:rPr>
              <a:t>Katılım</a:t>
            </a:r>
            <a:endParaRPr lang="en-GB" sz="1350" b="0" u="none" strike="noStrike">
              <a:solidFill>
                <a:srgbClr val="000000"/>
              </a:solidFill>
              <a:effectLst/>
              <a:uFillTx/>
              <a:latin typeface="Arial"/>
            </a:endParaRPr>
          </a:p>
        </p:txBody>
      </p:sp>
      <p:sp>
        <p:nvSpPr>
          <p:cNvPr id="126" name="Text 21"/>
          <p:cNvSpPr/>
          <p:nvPr/>
        </p:nvSpPr>
        <p:spPr>
          <a:xfrm>
            <a:off x="713160" y="5577840"/>
            <a:ext cx="2294640" cy="822600"/>
          </a:xfrm>
          <a:prstGeom prst="rect">
            <a:avLst/>
          </a:prstGeom>
          <a:noFill/>
          <a:ln w="0">
            <a:noFill/>
          </a:ln>
        </p:spPr>
        <p:style>
          <a:lnRef idx="0"/>
          <a:fillRef idx="0"/>
          <a:effectRef idx="0"/>
          <a:fontRef idx="minor"/>
        </p:style>
        <p:txBody>
          <a:bodyPr lIns="0" rIns="0" tIns="0" bIns="0" anchor="ctr">
            <a:noAutofit/>
          </a:bodyPr>
          <a:p>
            <a:pPr algn="ctr" defTabSz="914400">
              <a:lnSpc>
                <a:spcPts val="1301"/>
              </a:lnSpc>
              <a:tabLst>
                <a:tab algn="l" pos="0"/>
              </a:tabLst>
            </a:pPr>
            <a:r>
              <a:rPr lang="en-US" sz="1050" b="0" u="none" strike="noStrike">
                <a:solidFill>
                  <a:srgbClr val="5a6b78"/>
                </a:solidFill>
                <a:effectLst/>
                <a:uFillTx/>
                <a:latin typeface="Calibri"/>
                <a:ea typeface="Calibri"/>
              </a:rPr>
              <a:t>Paydaşlar giriş yapmadan, güvenli bağlantıyla katkı verir.</a:t>
            </a:r>
            <a:endParaRPr lang="en-GB" sz="1050" b="0" u="none" strike="noStrike">
              <a:solidFill>
                <a:srgbClr val="000000"/>
              </a:solidFill>
              <a:effectLst/>
              <a:uFillTx/>
              <a:latin typeface="Arial"/>
            </a:endParaRPr>
          </a:p>
        </p:txBody>
      </p:sp>
      <p:sp>
        <p:nvSpPr>
          <p:cNvPr id="127" name="Shape 22"/>
          <p:cNvSpPr/>
          <p:nvPr/>
        </p:nvSpPr>
        <p:spPr>
          <a:xfrm>
            <a:off x="3374280" y="4069080"/>
            <a:ext cx="2624040" cy="2422800"/>
          </a:xfrm>
          <a:prstGeom prst="roundRect">
            <a:avLst>
              <a:gd name="adj" fmla="val 3019"/>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28" name="Shape 23"/>
          <p:cNvSpPr/>
          <p:nvPr/>
        </p:nvSpPr>
        <p:spPr>
          <a:xfrm>
            <a:off x="4343400" y="4343400"/>
            <a:ext cx="685440" cy="68544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29" name="Image 5" descr="icons/FaRobot.png"/>
          <p:cNvPicPr/>
          <p:nvPr/>
        </p:nvPicPr>
        <p:blipFill>
          <a:blip r:embed="rId6"/>
          <a:stretch/>
        </p:blipFill>
        <p:spPr>
          <a:xfrm>
            <a:off x="4514760" y="4514760"/>
            <a:ext cx="342720" cy="342720"/>
          </a:xfrm>
          <a:prstGeom prst="rect">
            <a:avLst/>
          </a:prstGeom>
          <a:noFill/>
          <a:ln w="0">
            <a:noFill/>
          </a:ln>
        </p:spPr>
      </p:pic>
      <p:sp>
        <p:nvSpPr>
          <p:cNvPr id="130" name="Text 24"/>
          <p:cNvSpPr/>
          <p:nvPr/>
        </p:nvSpPr>
        <p:spPr>
          <a:xfrm>
            <a:off x="3511440" y="5166360"/>
            <a:ext cx="23497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50" b="1" u="none" strike="noStrike">
                <a:solidFill>
                  <a:srgbClr val="21295c"/>
                </a:solidFill>
                <a:effectLst/>
                <a:uFillTx/>
                <a:latin typeface="Cambria"/>
                <a:ea typeface="Cambria"/>
              </a:rPr>
              <a:t>Yapay Zeka Desteği</a:t>
            </a:r>
            <a:endParaRPr lang="en-GB" sz="1350" b="0" u="none" strike="noStrike">
              <a:solidFill>
                <a:srgbClr val="000000"/>
              </a:solidFill>
              <a:effectLst/>
              <a:uFillTx/>
              <a:latin typeface="Arial"/>
            </a:endParaRPr>
          </a:p>
        </p:txBody>
      </p:sp>
      <p:sp>
        <p:nvSpPr>
          <p:cNvPr id="131" name="Text 25"/>
          <p:cNvSpPr/>
          <p:nvPr/>
        </p:nvSpPr>
        <p:spPr>
          <a:xfrm>
            <a:off x="3538800" y="5577840"/>
            <a:ext cx="2294640" cy="822600"/>
          </a:xfrm>
          <a:prstGeom prst="rect">
            <a:avLst/>
          </a:prstGeom>
          <a:noFill/>
          <a:ln w="0">
            <a:noFill/>
          </a:ln>
        </p:spPr>
        <p:style>
          <a:lnRef idx="0"/>
          <a:fillRef idx="0"/>
          <a:effectRef idx="0"/>
          <a:fontRef idx="minor"/>
        </p:style>
        <p:txBody>
          <a:bodyPr lIns="0" rIns="0" tIns="0" bIns="0" anchor="ctr">
            <a:noAutofit/>
          </a:bodyPr>
          <a:p>
            <a:pPr algn="ctr" defTabSz="914400">
              <a:lnSpc>
                <a:spcPts val="1301"/>
              </a:lnSpc>
              <a:tabLst>
                <a:tab algn="l" pos="0"/>
              </a:tabLst>
            </a:pPr>
            <a:r>
              <a:rPr lang="en-US" sz="1050" b="0" u="none" strike="noStrike">
                <a:solidFill>
                  <a:srgbClr val="5a6b78"/>
                </a:solidFill>
                <a:effectLst/>
                <a:uFillTx/>
                <a:latin typeface="Calibri"/>
                <a:ea typeface="Calibri"/>
              </a:rPr>
              <a:t>Bilgi bankasından beslenen akıllı yanıt önerileri.</a:t>
            </a:r>
            <a:endParaRPr lang="en-GB" sz="1050" b="0" u="none" strike="noStrike">
              <a:solidFill>
                <a:srgbClr val="000000"/>
              </a:solidFill>
              <a:effectLst/>
              <a:uFillTx/>
              <a:latin typeface="Arial"/>
            </a:endParaRPr>
          </a:p>
        </p:txBody>
      </p:sp>
      <p:sp>
        <p:nvSpPr>
          <p:cNvPr id="132" name="Shape 26"/>
          <p:cNvSpPr/>
          <p:nvPr/>
        </p:nvSpPr>
        <p:spPr>
          <a:xfrm>
            <a:off x="6199560" y="4069080"/>
            <a:ext cx="2624040" cy="2422800"/>
          </a:xfrm>
          <a:prstGeom prst="roundRect">
            <a:avLst>
              <a:gd name="adj" fmla="val 3019"/>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33" name="Shape 27"/>
          <p:cNvSpPr/>
          <p:nvPr/>
        </p:nvSpPr>
        <p:spPr>
          <a:xfrm>
            <a:off x="7169040" y="4343400"/>
            <a:ext cx="685440" cy="68544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34" name="Image 6" descr="icons/FaLanguage.png"/>
          <p:cNvPicPr/>
          <p:nvPr/>
        </p:nvPicPr>
        <p:blipFill>
          <a:blip r:embed="rId7"/>
          <a:stretch/>
        </p:blipFill>
        <p:spPr>
          <a:xfrm>
            <a:off x="7340400" y="4514760"/>
            <a:ext cx="342720" cy="342720"/>
          </a:xfrm>
          <a:prstGeom prst="rect">
            <a:avLst/>
          </a:prstGeom>
          <a:noFill/>
          <a:ln w="0">
            <a:noFill/>
          </a:ln>
        </p:spPr>
      </p:pic>
      <p:sp>
        <p:nvSpPr>
          <p:cNvPr id="135" name="Text 28"/>
          <p:cNvSpPr/>
          <p:nvPr/>
        </p:nvSpPr>
        <p:spPr>
          <a:xfrm>
            <a:off x="6336720" y="5166360"/>
            <a:ext cx="23497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50" b="1" u="none" strike="noStrike">
                <a:solidFill>
                  <a:srgbClr val="21295c"/>
                </a:solidFill>
                <a:effectLst/>
                <a:uFillTx/>
                <a:latin typeface="Cambria"/>
                <a:ea typeface="Cambria"/>
              </a:rPr>
              <a:t>Çift Dil</a:t>
            </a:r>
            <a:endParaRPr lang="en-GB" sz="1350" b="0" u="none" strike="noStrike">
              <a:solidFill>
                <a:srgbClr val="000000"/>
              </a:solidFill>
              <a:effectLst/>
              <a:uFillTx/>
              <a:latin typeface="Arial"/>
            </a:endParaRPr>
          </a:p>
        </p:txBody>
      </p:sp>
      <p:sp>
        <p:nvSpPr>
          <p:cNvPr id="136" name="Text 29"/>
          <p:cNvSpPr/>
          <p:nvPr/>
        </p:nvSpPr>
        <p:spPr>
          <a:xfrm>
            <a:off x="6364080" y="5577840"/>
            <a:ext cx="2294640" cy="822600"/>
          </a:xfrm>
          <a:prstGeom prst="rect">
            <a:avLst/>
          </a:prstGeom>
          <a:noFill/>
          <a:ln w="0">
            <a:noFill/>
          </a:ln>
        </p:spPr>
        <p:style>
          <a:lnRef idx="0"/>
          <a:fillRef idx="0"/>
          <a:effectRef idx="0"/>
          <a:fontRef idx="minor"/>
        </p:style>
        <p:txBody>
          <a:bodyPr lIns="0" rIns="0" tIns="0" bIns="0" anchor="ctr">
            <a:noAutofit/>
          </a:bodyPr>
          <a:p>
            <a:pPr algn="ctr" defTabSz="914400">
              <a:lnSpc>
                <a:spcPts val="1301"/>
              </a:lnSpc>
              <a:tabLst>
                <a:tab algn="l" pos="0"/>
              </a:tabLst>
            </a:pPr>
            <a:r>
              <a:rPr lang="en-US" sz="1050" b="0" u="none" strike="noStrike">
                <a:solidFill>
                  <a:srgbClr val="5a6b78"/>
                </a:solidFill>
                <a:effectLst/>
                <a:uFillTx/>
                <a:latin typeface="Calibri"/>
                <a:ea typeface="Calibri"/>
              </a:rPr>
              <a:t>Türkçe ve İngilizce arayüz.</a:t>
            </a:r>
            <a:endParaRPr lang="en-GB" sz="1050" b="0" u="none" strike="noStrike">
              <a:solidFill>
                <a:srgbClr val="000000"/>
              </a:solidFill>
              <a:effectLst/>
              <a:uFillTx/>
              <a:latin typeface="Arial"/>
            </a:endParaRPr>
          </a:p>
        </p:txBody>
      </p:sp>
      <p:sp>
        <p:nvSpPr>
          <p:cNvPr id="137" name="Shape 30"/>
          <p:cNvSpPr/>
          <p:nvPr/>
        </p:nvSpPr>
        <p:spPr>
          <a:xfrm>
            <a:off x="9025200" y="4069080"/>
            <a:ext cx="2624040" cy="2422800"/>
          </a:xfrm>
          <a:prstGeom prst="roundRect">
            <a:avLst>
              <a:gd name="adj" fmla="val 3019"/>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38" name="Shape 31"/>
          <p:cNvSpPr/>
          <p:nvPr/>
        </p:nvSpPr>
        <p:spPr>
          <a:xfrm>
            <a:off x="9994320" y="4343400"/>
            <a:ext cx="685440" cy="68544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39" name="Image 7" descr="icons/FaServer.png"/>
          <p:cNvPicPr/>
          <p:nvPr/>
        </p:nvPicPr>
        <p:blipFill>
          <a:blip r:embed="rId8"/>
          <a:stretch/>
        </p:blipFill>
        <p:spPr>
          <a:xfrm>
            <a:off x="10165680" y="4514760"/>
            <a:ext cx="342720" cy="342720"/>
          </a:xfrm>
          <a:prstGeom prst="rect">
            <a:avLst/>
          </a:prstGeom>
          <a:noFill/>
          <a:ln w="0">
            <a:noFill/>
          </a:ln>
        </p:spPr>
      </p:pic>
      <p:sp>
        <p:nvSpPr>
          <p:cNvPr id="140" name="Text 32"/>
          <p:cNvSpPr/>
          <p:nvPr/>
        </p:nvSpPr>
        <p:spPr>
          <a:xfrm>
            <a:off x="9162360" y="5166360"/>
            <a:ext cx="23497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50" b="1" u="none" strike="noStrike">
                <a:solidFill>
                  <a:srgbClr val="21295c"/>
                </a:solidFill>
                <a:effectLst/>
                <a:uFillTx/>
                <a:latin typeface="Cambria"/>
                <a:ea typeface="Cambria"/>
              </a:rPr>
              <a:t>Veri Egemenliği</a:t>
            </a:r>
            <a:endParaRPr lang="en-GB" sz="1350" b="0" u="none" strike="noStrike">
              <a:solidFill>
                <a:srgbClr val="000000"/>
              </a:solidFill>
              <a:effectLst/>
              <a:uFillTx/>
              <a:latin typeface="Arial"/>
            </a:endParaRPr>
          </a:p>
        </p:txBody>
      </p:sp>
      <p:sp>
        <p:nvSpPr>
          <p:cNvPr id="141" name="Text 33"/>
          <p:cNvSpPr/>
          <p:nvPr/>
        </p:nvSpPr>
        <p:spPr>
          <a:xfrm>
            <a:off x="9189720" y="5577840"/>
            <a:ext cx="2294640" cy="822600"/>
          </a:xfrm>
          <a:prstGeom prst="rect">
            <a:avLst/>
          </a:prstGeom>
          <a:noFill/>
          <a:ln w="0">
            <a:noFill/>
          </a:ln>
        </p:spPr>
        <p:style>
          <a:lnRef idx="0"/>
          <a:fillRef idx="0"/>
          <a:effectRef idx="0"/>
          <a:fontRef idx="minor"/>
        </p:style>
        <p:txBody>
          <a:bodyPr lIns="0" rIns="0" tIns="0" bIns="0" anchor="ctr">
            <a:noAutofit/>
          </a:bodyPr>
          <a:p>
            <a:pPr algn="ctr" defTabSz="914400">
              <a:lnSpc>
                <a:spcPts val="1301"/>
              </a:lnSpc>
              <a:tabLst>
                <a:tab algn="l" pos="0"/>
              </a:tabLst>
            </a:pPr>
            <a:r>
              <a:rPr lang="en-US" sz="1050" b="0" u="none" strike="noStrike">
                <a:solidFill>
                  <a:srgbClr val="5a6b78"/>
                </a:solidFill>
                <a:effectLst/>
                <a:uFillTx/>
                <a:latin typeface="Calibri"/>
                <a:ea typeface="Calibri"/>
              </a:rPr>
              <a:t>Kendi altyapınızda barındırılabilir.</a:t>
            </a:r>
            <a:endParaRPr lang="en-GB"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2" name="Text 0"/>
          <p:cNvSpPr/>
          <p:nvPr/>
        </p:nvSpPr>
        <p:spPr>
          <a:xfrm>
            <a:off x="548640" y="164520"/>
            <a:ext cx="91436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pc="201" strike="noStrike">
                <a:solidFill>
                  <a:srgbClr val="1c7293"/>
                </a:solidFill>
                <a:effectLst/>
                <a:uFillTx/>
                <a:latin typeface="Calibri"/>
                <a:ea typeface="Calibri"/>
              </a:rPr>
              <a:t>MODÜLLER</a:t>
            </a:r>
            <a:endParaRPr lang="en-GB" sz="1200" b="0" u="none" strike="noStrike">
              <a:solidFill>
                <a:srgbClr val="000000"/>
              </a:solidFill>
              <a:effectLst/>
              <a:uFillTx/>
              <a:latin typeface="Arial"/>
            </a:endParaRPr>
          </a:p>
        </p:txBody>
      </p:sp>
      <p:sp>
        <p:nvSpPr>
          <p:cNvPr id="143" name="Text 1"/>
          <p:cNvSpPr/>
          <p:nvPr/>
        </p:nvSpPr>
        <p:spPr>
          <a:xfrm>
            <a:off x="548640" y="41148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200" b="1" u="none" strike="noStrike">
                <a:solidFill>
                  <a:srgbClr val="21295c"/>
                </a:solidFill>
                <a:effectLst/>
                <a:uFillTx/>
                <a:latin typeface="Cambria"/>
                <a:ea typeface="Cambria"/>
              </a:rPr>
              <a:t>Müşteri ve Proje Yönetimi</a:t>
            </a:r>
            <a:endParaRPr lang="en-GB" sz="3200" b="0" u="none" strike="noStrike">
              <a:solidFill>
                <a:srgbClr val="000000"/>
              </a:solidFill>
              <a:effectLst/>
              <a:uFillTx/>
              <a:latin typeface="Arial"/>
            </a:endParaRPr>
          </a:p>
        </p:txBody>
      </p:sp>
      <p:sp>
        <p:nvSpPr>
          <p:cNvPr id="144" name="Shape 2"/>
          <p:cNvSpPr/>
          <p:nvPr/>
        </p:nvSpPr>
        <p:spPr>
          <a:xfrm>
            <a:off x="548640" y="137160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45" name="Shape 3"/>
          <p:cNvSpPr/>
          <p:nvPr/>
        </p:nvSpPr>
        <p:spPr>
          <a:xfrm>
            <a:off x="822960" y="174492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46" name="Image 0" descr="icons/FaBuilding.png"/>
          <p:cNvPicPr/>
          <p:nvPr/>
        </p:nvPicPr>
        <p:blipFill>
          <a:blip r:embed="rId1"/>
          <a:stretch/>
        </p:blipFill>
        <p:spPr>
          <a:xfrm>
            <a:off x="1017360" y="1939320"/>
            <a:ext cx="388440" cy="388440"/>
          </a:xfrm>
          <a:prstGeom prst="rect">
            <a:avLst/>
          </a:prstGeom>
          <a:noFill/>
          <a:ln w="0">
            <a:noFill/>
          </a:ln>
        </p:spPr>
      </p:pic>
      <p:sp>
        <p:nvSpPr>
          <p:cNvPr id="147" name="Text 4"/>
          <p:cNvSpPr/>
          <p:nvPr/>
        </p:nvSpPr>
        <p:spPr>
          <a:xfrm>
            <a:off x="1828800" y="153612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Firma Dizini ve Profilleri</a:t>
            </a:r>
            <a:endParaRPr lang="en-GB" sz="1400" b="0" u="none" strike="noStrike">
              <a:solidFill>
                <a:srgbClr val="000000"/>
              </a:solidFill>
              <a:effectLst/>
              <a:uFillTx/>
              <a:latin typeface="Arial"/>
            </a:endParaRPr>
          </a:p>
        </p:txBody>
      </p:sp>
      <p:sp>
        <p:nvSpPr>
          <p:cNvPr id="148" name="Text 5"/>
          <p:cNvSpPr/>
          <p:nvPr/>
        </p:nvSpPr>
        <p:spPr>
          <a:xfrm>
            <a:off x="1828800" y="21337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Müşteri şirketler, şubeleri, kişileri ve zengin ESG profili tek yerde.</a:t>
            </a:r>
            <a:endParaRPr lang="en-GB" sz="1050" b="0" u="none" strike="noStrike">
              <a:solidFill>
                <a:srgbClr val="000000"/>
              </a:solidFill>
              <a:effectLst/>
              <a:uFillTx/>
              <a:latin typeface="Arial"/>
            </a:endParaRPr>
          </a:p>
        </p:txBody>
      </p:sp>
      <p:sp>
        <p:nvSpPr>
          <p:cNvPr id="149" name="Shape 6"/>
          <p:cNvSpPr/>
          <p:nvPr/>
        </p:nvSpPr>
        <p:spPr>
          <a:xfrm>
            <a:off x="6231600" y="137160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50" name="Shape 7"/>
          <p:cNvSpPr/>
          <p:nvPr/>
        </p:nvSpPr>
        <p:spPr>
          <a:xfrm>
            <a:off x="6505920" y="174492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51" name="Image 1" descr="icons/FaClipboardList.png"/>
          <p:cNvPicPr/>
          <p:nvPr/>
        </p:nvPicPr>
        <p:blipFill>
          <a:blip r:embed="rId2"/>
          <a:stretch/>
        </p:blipFill>
        <p:spPr>
          <a:xfrm>
            <a:off x="6700320" y="1939320"/>
            <a:ext cx="388440" cy="388440"/>
          </a:xfrm>
          <a:prstGeom prst="rect">
            <a:avLst/>
          </a:prstGeom>
          <a:noFill/>
          <a:ln w="0">
            <a:noFill/>
          </a:ln>
        </p:spPr>
      </p:pic>
      <p:sp>
        <p:nvSpPr>
          <p:cNvPr id="152" name="Text 8"/>
          <p:cNvSpPr/>
          <p:nvPr/>
        </p:nvSpPr>
        <p:spPr>
          <a:xfrm>
            <a:off x="7511760" y="153612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Şablonlar ve Anketler</a:t>
            </a:r>
            <a:endParaRPr lang="en-GB" sz="1400" b="0" u="none" strike="noStrike">
              <a:solidFill>
                <a:srgbClr val="000000"/>
              </a:solidFill>
              <a:effectLst/>
              <a:uFillTx/>
              <a:latin typeface="Arial"/>
            </a:endParaRPr>
          </a:p>
        </p:txBody>
      </p:sp>
      <p:sp>
        <p:nvSpPr>
          <p:cNvPr id="153" name="Text 9"/>
          <p:cNvSpPr/>
          <p:nvPr/>
        </p:nvSpPr>
        <p:spPr>
          <a:xfrm>
            <a:off x="7511760" y="21337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Çift dilli soru setleri; şubelere göre otomatik çoğaltılan sorular.</a:t>
            </a:r>
            <a:endParaRPr lang="en-GB" sz="1050" b="0" u="none" strike="noStrike">
              <a:solidFill>
                <a:srgbClr val="000000"/>
              </a:solidFill>
              <a:effectLst/>
              <a:uFillTx/>
              <a:latin typeface="Arial"/>
            </a:endParaRPr>
          </a:p>
        </p:txBody>
      </p:sp>
      <p:sp>
        <p:nvSpPr>
          <p:cNvPr id="154" name="Shape 10"/>
          <p:cNvSpPr/>
          <p:nvPr/>
        </p:nvSpPr>
        <p:spPr>
          <a:xfrm>
            <a:off x="548640" y="316980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55" name="Shape 11"/>
          <p:cNvSpPr/>
          <p:nvPr/>
        </p:nvSpPr>
        <p:spPr>
          <a:xfrm>
            <a:off x="822960" y="3543480"/>
            <a:ext cx="776880" cy="77688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56" name="Image 2" descr="icons/FaProjectDiagram.png"/>
          <p:cNvPicPr/>
          <p:nvPr/>
        </p:nvPicPr>
        <p:blipFill>
          <a:blip r:embed="rId3"/>
          <a:stretch/>
        </p:blipFill>
        <p:spPr>
          <a:xfrm>
            <a:off x="1017360" y="3737520"/>
            <a:ext cx="388440" cy="388440"/>
          </a:xfrm>
          <a:prstGeom prst="rect">
            <a:avLst/>
          </a:prstGeom>
          <a:noFill/>
          <a:ln w="0">
            <a:noFill/>
          </a:ln>
        </p:spPr>
      </p:pic>
      <p:sp>
        <p:nvSpPr>
          <p:cNvPr id="157" name="Text 12"/>
          <p:cNvSpPr/>
          <p:nvPr/>
        </p:nvSpPr>
        <p:spPr>
          <a:xfrm>
            <a:off x="1828800" y="333468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Projeler</a:t>
            </a:r>
            <a:endParaRPr lang="en-GB" sz="1400" b="0" u="none" strike="noStrike">
              <a:solidFill>
                <a:srgbClr val="000000"/>
              </a:solidFill>
              <a:effectLst/>
              <a:uFillTx/>
              <a:latin typeface="Arial"/>
            </a:endParaRPr>
          </a:p>
        </p:txBody>
      </p:sp>
      <p:sp>
        <p:nvSpPr>
          <p:cNvPr id="158" name="Text 13"/>
          <p:cNvSpPr/>
          <p:nvPr/>
        </p:nvSpPr>
        <p:spPr>
          <a:xfrm>
            <a:off x="1828800" y="39319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Anketleri projelere dönüştürme, ilerleme takibi, yorumlar ve sürüm geçmişi.</a:t>
            </a:r>
            <a:endParaRPr lang="en-GB" sz="1050" b="0" u="none" strike="noStrike">
              <a:solidFill>
                <a:srgbClr val="000000"/>
              </a:solidFill>
              <a:effectLst/>
              <a:uFillTx/>
              <a:latin typeface="Arial"/>
            </a:endParaRPr>
          </a:p>
        </p:txBody>
      </p:sp>
      <p:sp>
        <p:nvSpPr>
          <p:cNvPr id="159" name="Shape 14"/>
          <p:cNvSpPr/>
          <p:nvPr/>
        </p:nvSpPr>
        <p:spPr>
          <a:xfrm>
            <a:off x="6231600" y="316980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60" name="Shape 15"/>
          <p:cNvSpPr/>
          <p:nvPr/>
        </p:nvSpPr>
        <p:spPr>
          <a:xfrm>
            <a:off x="6505920" y="3543480"/>
            <a:ext cx="776880" cy="77688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61" name="Image 3" descr="icons/FaTasks.png"/>
          <p:cNvPicPr/>
          <p:nvPr/>
        </p:nvPicPr>
        <p:blipFill>
          <a:blip r:embed="rId4"/>
          <a:stretch/>
        </p:blipFill>
        <p:spPr>
          <a:xfrm>
            <a:off x="6700320" y="3737520"/>
            <a:ext cx="388440" cy="388440"/>
          </a:xfrm>
          <a:prstGeom prst="rect">
            <a:avLst/>
          </a:prstGeom>
          <a:noFill/>
          <a:ln w="0">
            <a:noFill/>
          </a:ln>
        </p:spPr>
      </p:pic>
      <p:sp>
        <p:nvSpPr>
          <p:cNvPr id="162" name="Text 16"/>
          <p:cNvSpPr/>
          <p:nvPr/>
        </p:nvSpPr>
        <p:spPr>
          <a:xfrm>
            <a:off x="7511760" y="333468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Atama ve Görevler</a:t>
            </a:r>
            <a:endParaRPr lang="en-GB" sz="1400" b="0" u="none" strike="noStrike">
              <a:solidFill>
                <a:srgbClr val="000000"/>
              </a:solidFill>
              <a:effectLst/>
              <a:uFillTx/>
              <a:latin typeface="Arial"/>
            </a:endParaRPr>
          </a:p>
        </p:txBody>
      </p:sp>
      <p:sp>
        <p:nvSpPr>
          <p:cNvPr id="163" name="Text 17"/>
          <p:cNvSpPr/>
          <p:nvPr/>
        </p:nvSpPr>
        <p:spPr>
          <a:xfrm>
            <a:off x="7511760" y="39319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Soruları kişilere atama, hatırlatmalar, iş yükü takibi.</a:t>
            </a:r>
            <a:endParaRPr lang="en-GB" sz="1050" b="0" u="none" strike="noStrike">
              <a:solidFill>
                <a:srgbClr val="000000"/>
              </a:solidFill>
              <a:effectLst/>
              <a:uFillTx/>
              <a:latin typeface="Arial"/>
            </a:endParaRPr>
          </a:p>
        </p:txBody>
      </p:sp>
      <p:sp>
        <p:nvSpPr>
          <p:cNvPr id="164" name="Shape 18"/>
          <p:cNvSpPr/>
          <p:nvPr/>
        </p:nvSpPr>
        <p:spPr>
          <a:xfrm>
            <a:off x="548640" y="496836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65" name="Shape 19"/>
          <p:cNvSpPr/>
          <p:nvPr/>
        </p:nvSpPr>
        <p:spPr>
          <a:xfrm>
            <a:off x="822960" y="534168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66" name="Image 4" descr="icons/FaLink.png"/>
          <p:cNvPicPr/>
          <p:nvPr/>
        </p:nvPicPr>
        <p:blipFill>
          <a:blip r:embed="rId5"/>
          <a:stretch/>
        </p:blipFill>
        <p:spPr>
          <a:xfrm>
            <a:off x="1017360" y="5536080"/>
            <a:ext cx="388440" cy="388440"/>
          </a:xfrm>
          <a:prstGeom prst="rect">
            <a:avLst/>
          </a:prstGeom>
          <a:noFill/>
          <a:ln w="0">
            <a:noFill/>
          </a:ln>
        </p:spPr>
      </p:pic>
      <p:sp>
        <p:nvSpPr>
          <p:cNvPr id="167" name="Text 20"/>
          <p:cNvSpPr/>
          <p:nvPr/>
        </p:nvSpPr>
        <p:spPr>
          <a:xfrm>
            <a:off x="1828800" y="513288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Girişsiz Veri Toplama</a:t>
            </a:r>
            <a:endParaRPr lang="en-GB" sz="1400" b="0" u="none" strike="noStrike">
              <a:solidFill>
                <a:srgbClr val="000000"/>
              </a:solidFill>
              <a:effectLst/>
              <a:uFillTx/>
              <a:latin typeface="Arial"/>
            </a:endParaRPr>
          </a:p>
        </p:txBody>
      </p:sp>
      <p:sp>
        <p:nvSpPr>
          <p:cNvPr id="168" name="Text 21"/>
          <p:cNvSpPr/>
          <p:nvPr/>
        </p:nvSpPr>
        <p:spPr>
          <a:xfrm>
            <a:off x="1828800" y="57301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Dış kişilere güvenli bağlantı ile anket/soru gönderme.</a:t>
            </a:r>
            <a:endParaRPr lang="en-GB"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9" name="Text 0"/>
          <p:cNvSpPr/>
          <p:nvPr/>
        </p:nvSpPr>
        <p:spPr>
          <a:xfrm>
            <a:off x="548640" y="164520"/>
            <a:ext cx="91436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pc="201" strike="noStrike">
                <a:solidFill>
                  <a:srgbClr val="1c7293"/>
                </a:solidFill>
                <a:effectLst/>
                <a:uFillTx/>
                <a:latin typeface="Calibri"/>
                <a:ea typeface="Calibri"/>
              </a:rPr>
              <a:t>MODÜLLER</a:t>
            </a:r>
            <a:endParaRPr lang="en-GB" sz="1200" b="0" u="none" strike="noStrike">
              <a:solidFill>
                <a:srgbClr val="000000"/>
              </a:solidFill>
              <a:effectLst/>
              <a:uFillTx/>
              <a:latin typeface="Arial"/>
            </a:endParaRPr>
          </a:p>
        </p:txBody>
      </p:sp>
      <p:sp>
        <p:nvSpPr>
          <p:cNvPr id="170" name="Text 1"/>
          <p:cNvSpPr/>
          <p:nvPr/>
        </p:nvSpPr>
        <p:spPr>
          <a:xfrm>
            <a:off x="548640" y="41148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200" b="1" u="none" strike="noStrike">
                <a:solidFill>
                  <a:srgbClr val="21295c"/>
                </a:solidFill>
                <a:effectLst/>
                <a:uFillTx/>
                <a:latin typeface="Cambria"/>
                <a:ea typeface="Cambria"/>
              </a:rPr>
              <a:t>Yapay Zeka ve Bilgi</a:t>
            </a:r>
            <a:endParaRPr lang="en-GB" sz="3200" b="0" u="none" strike="noStrike">
              <a:solidFill>
                <a:srgbClr val="000000"/>
              </a:solidFill>
              <a:effectLst/>
              <a:uFillTx/>
              <a:latin typeface="Arial"/>
            </a:endParaRPr>
          </a:p>
        </p:txBody>
      </p:sp>
      <p:sp>
        <p:nvSpPr>
          <p:cNvPr id="171" name="Shape 2"/>
          <p:cNvSpPr/>
          <p:nvPr/>
        </p:nvSpPr>
        <p:spPr>
          <a:xfrm>
            <a:off x="548640" y="1371600"/>
            <a:ext cx="3513960" cy="5120280"/>
          </a:xfrm>
          <a:prstGeom prst="roundRect">
            <a:avLst>
              <a:gd name="adj" fmla="val 2082"/>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72" name="Shape 3"/>
          <p:cNvSpPr/>
          <p:nvPr/>
        </p:nvSpPr>
        <p:spPr>
          <a:xfrm>
            <a:off x="822960" y="354348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73" name="Image 0" descr="icons/FaBrain.png"/>
          <p:cNvPicPr/>
          <p:nvPr/>
        </p:nvPicPr>
        <p:blipFill>
          <a:blip r:embed="rId1"/>
          <a:stretch/>
        </p:blipFill>
        <p:spPr>
          <a:xfrm>
            <a:off x="1017360" y="3737520"/>
            <a:ext cx="388440" cy="388440"/>
          </a:xfrm>
          <a:prstGeom prst="rect">
            <a:avLst/>
          </a:prstGeom>
          <a:noFill/>
          <a:ln w="0">
            <a:noFill/>
          </a:ln>
        </p:spPr>
      </p:pic>
      <p:sp>
        <p:nvSpPr>
          <p:cNvPr id="174" name="Text 4"/>
          <p:cNvSpPr/>
          <p:nvPr/>
        </p:nvSpPr>
        <p:spPr>
          <a:xfrm>
            <a:off x="1828800" y="1536120"/>
            <a:ext cx="2005200" cy="215028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Kurumsal Bilgi Bankası</a:t>
            </a:r>
            <a:endParaRPr lang="en-GB" sz="1400" b="0" u="none" strike="noStrike">
              <a:solidFill>
                <a:srgbClr val="000000"/>
              </a:solidFill>
              <a:effectLst/>
              <a:uFillTx/>
              <a:latin typeface="Arial"/>
            </a:endParaRPr>
          </a:p>
        </p:txBody>
      </p:sp>
      <p:sp>
        <p:nvSpPr>
          <p:cNvPr id="175" name="Text 5"/>
          <p:cNvSpPr/>
          <p:nvPr/>
        </p:nvSpPr>
        <p:spPr>
          <a:xfrm>
            <a:off x="1828800" y="3931920"/>
            <a:ext cx="2005200" cy="235512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Müşteriye özel doküman havuzu ve akıllı arama.</a:t>
            </a:r>
            <a:endParaRPr lang="en-GB" sz="1050" b="0" u="none" strike="noStrike">
              <a:solidFill>
                <a:srgbClr val="000000"/>
              </a:solidFill>
              <a:effectLst/>
              <a:uFillTx/>
              <a:latin typeface="Arial"/>
            </a:endParaRPr>
          </a:p>
        </p:txBody>
      </p:sp>
      <p:sp>
        <p:nvSpPr>
          <p:cNvPr id="176" name="Shape 6"/>
          <p:cNvSpPr/>
          <p:nvPr/>
        </p:nvSpPr>
        <p:spPr>
          <a:xfrm>
            <a:off x="4337280" y="1371600"/>
            <a:ext cx="3513960" cy="5120280"/>
          </a:xfrm>
          <a:prstGeom prst="roundRect">
            <a:avLst>
              <a:gd name="adj" fmla="val 2082"/>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77" name="Shape 7"/>
          <p:cNvSpPr/>
          <p:nvPr/>
        </p:nvSpPr>
        <p:spPr>
          <a:xfrm>
            <a:off x="4611600" y="354348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78" name="Image 1" descr="icons/FaRobot.png"/>
          <p:cNvPicPr/>
          <p:nvPr/>
        </p:nvPicPr>
        <p:blipFill>
          <a:blip r:embed="rId2"/>
          <a:stretch/>
        </p:blipFill>
        <p:spPr>
          <a:xfrm>
            <a:off x="4806000" y="3737520"/>
            <a:ext cx="388440" cy="388440"/>
          </a:xfrm>
          <a:prstGeom prst="rect">
            <a:avLst/>
          </a:prstGeom>
          <a:noFill/>
          <a:ln w="0">
            <a:noFill/>
          </a:ln>
        </p:spPr>
      </p:pic>
      <p:sp>
        <p:nvSpPr>
          <p:cNvPr id="179" name="Text 8"/>
          <p:cNvSpPr/>
          <p:nvPr/>
        </p:nvSpPr>
        <p:spPr>
          <a:xfrm>
            <a:off x="5617440" y="1536120"/>
            <a:ext cx="2005200" cy="215028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Yapay Zeka ile Yanıt Doldurma</a:t>
            </a:r>
            <a:endParaRPr lang="en-GB" sz="1400" b="0" u="none" strike="noStrike">
              <a:solidFill>
                <a:srgbClr val="000000"/>
              </a:solidFill>
              <a:effectLst/>
              <a:uFillTx/>
              <a:latin typeface="Arial"/>
            </a:endParaRPr>
          </a:p>
        </p:txBody>
      </p:sp>
      <p:sp>
        <p:nvSpPr>
          <p:cNvPr id="180" name="Text 9"/>
          <p:cNvSpPr/>
          <p:nvPr/>
        </p:nvSpPr>
        <p:spPr>
          <a:xfrm>
            <a:off x="5617440" y="3931920"/>
            <a:ext cx="2005200" cy="235512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"Lokal AI" (kurumsal belgelerden) ve "Genel AI" ile öneri.</a:t>
            </a:r>
            <a:endParaRPr lang="en-GB" sz="1050" b="0" u="none" strike="noStrike">
              <a:solidFill>
                <a:srgbClr val="000000"/>
              </a:solidFill>
              <a:effectLst/>
              <a:uFillTx/>
              <a:latin typeface="Arial"/>
            </a:endParaRPr>
          </a:p>
        </p:txBody>
      </p:sp>
      <p:sp>
        <p:nvSpPr>
          <p:cNvPr id="181" name="Shape 10"/>
          <p:cNvSpPr/>
          <p:nvPr/>
        </p:nvSpPr>
        <p:spPr>
          <a:xfrm>
            <a:off x="8125920" y="1371600"/>
            <a:ext cx="3513960" cy="5120280"/>
          </a:xfrm>
          <a:prstGeom prst="roundRect">
            <a:avLst>
              <a:gd name="adj" fmla="val 2082"/>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82" name="Shape 11"/>
          <p:cNvSpPr/>
          <p:nvPr/>
        </p:nvSpPr>
        <p:spPr>
          <a:xfrm>
            <a:off x="8400240" y="354348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83" name="Image 2" descr="icons/FaFileAlt.png"/>
          <p:cNvPicPr/>
          <p:nvPr/>
        </p:nvPicPr>
        <p:blipFill>
          <a:blip r:embed="rId3"/>
          <a:stretch/>
        </p:blipFill>
        <p:spPr>
          <a:xfrm>
            <a:off x="8594640" y="3737520"/>
            <a:ext cx="388440" cy="388440"/>
          </a:xfrm>
          <a:prstGeom prst="rect">
            <a:avLst/>
          </a:prstGeom>
          <a:noFill/>
          <a:ln w="0">
            <a:noFill/>
          </a:ln>
        </p:spPr>
      </p:pic>
      <p:sp>
        <p:nvSpPr>
          <p:cNvPr id="184" name="Text 12"/>
          <p:cNvSpPr/>
          <p:nvPr/>
        </p:nvSpPr>
        <p:spPr>
          <a:xfrm>
            <a:off x="9406080" y="1536120"/>
            <a:ext cx="2005200" cy="215028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Firma Profili Otomatik Doldurma</a:t>
            </a:r>
            <a:endParaRPr lang="en-GB" sz="1400" b="0" u="none" strike="noStrike">
              <a:solidFill>
                <a:srgbClr val="000000"/>
              </a:solidFill>
              <a:effectLst/>
              <a:uFillTx/>
              <a:latin typeface="Arial"/>
            </a:endParaRPr>
          </a:p>
        </p:txBody>
      </p:sp>
      <p:sp>
        <p:nvSpPr>
          <p:cNvPr id="185" name="Text 13"/>
          <p:cNvSpPr/>
          <p:nvPr/>
        </p:nvSpPr>
        <p:spPr>
          <a:xfrm>
            <a:off x="9406080" y="3931920"/>
            <a:ext cx="2005200" cy="235512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Belgelerden şirket bilgisi çıkarma.</a:t>
            </a:r>
            <a:endParaRPr lang="en-GB"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6" name="Text 0"/>
          <p:cNvSpPr/>
          <p:nvPr/>
        </p:nvSpPr>
        <p:spPr>
          <a:xfrm>
            <a:off x="548640" y="164520"/>
            <a:ext cx="91436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pc="201" strike="noStrike">
                <a:solidFill>
                  <a:srgbClr val="1c7293"/>
                </a:solidFill>
                <a:effectLst/>
                <a:uFillTx/>
                <a:latin typeface="Calibri"/>
                <a:ea typeface="Calibri"/>
              </a:rPr>
              <a:t>MODÜLLER</a:t>
            </a:r>
            <a:endParaRPr lang="en-GB" sz="1200" b="0" u="none" strike="noStrike">
              <a:solidFill>
                <a:srgbClr val="000000"/>
              </a:solidFill>
              <a:effectLst/>
              <a:uFillTx/>
              <a:latin typeface="Arial"/>
            </a:endParaRPr>
          </a:p>
        </p:txBody>
      </p:sp>
      <p:sp>
        <p:nvSpPr>
          <p:cNvPr id="187" name="Text 1"/>
          <p:cNvSpPr/>
          <p:nvPr/>
        </p:nvSpPr>
        <p:spPr>
          <a:xfrm>
            <a:off x="548640" y="41148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200" b="1" u="none" strike="noStrike">
                <a:solidFill>
                  <a:srgbClr val="21295c"/>
                </a:solidFill>
                <a:effectLst/>
                <a:uFillTx/>
                <a:latin typeface="Cambria"/>
                <a:ea typeface="Cambria"/>
              </a:rPr>
              <a:t>Sürdürülebilirlik Alanı</a:t>
            </a:r>
            <a:endParaRPr lang="en-GB" sz="3200" b="0" u="none" strike="noStrike">
              <a:solidFill>
                <a:srgbClr val="000000"/>
              </a:solidFill>
              <a:effectLst/>
              <a:uFillTx/>
              <a:latin typeface="Arial"/>
            </a:endParaRPr>
          </a:p>
        </p:txBody>
      </p:sp>
      <p:sp>
        <p:nvSpPr>
          <p:cNvPr id="188" name="Shape 2"/>
          <p:cNvSpPr/>
          <p:nvPr/>
        </p:nvSpPr>
        <p:spPr>
          <a:xfrm>
            <a:off x="548640" y="137160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89" name="Shape 3"/>
          <p:cNvSpPr/>
          <p:nvPr/>
        </p:nvSpPr>
        <p:spPr>
          <a:xfrm>
            <a:off x="822960" y="174492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90" name="Image 0" descr="icons/FaLeaf.png"/>
          <p:cNvPicPr/>
          <p:nvPr/>
        </p:nvPicPr>
        <p:blipFill>
          <a:blip r:embed="rId1"/>
          <a:stretch/>
        </p:blipFill>
        <p:spPr>
          <a:xfrm>
            <a:off x="1017360" y="1939320"/>
            <a:ext cx="388440" cy="388440"/>
          </a:xfrm>
          <a:prstGeom prst="rect">
            <a:avLst/>
          </a:prstGeom>
          <a:noFill/>
          <a:ln w="0">
            <a:noFill/>
          </a:ln>
        </p:spPr>
      </p:pic>
      <p:sp>
        <p:nvSpPr>
          <p:cNvPr id="191" name="Text 4"/>
          <p:cNvSpPr/>
          <p:nvPr/>
        </p:nvSpPr>
        <p:spPr>
          <a:xfrm>
            <a:off x="1828800" y="153612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Emisyon Defteri</a:t>
            </a:r>
            <a:endParaRPr lang="en-GB" sz="1400" b="0" u="none" strike="noStrike">
              <a:solidFill>
                <a:srgbClr val="000000"/>
              </a:solidFill>
              <a:effectLst/>
              <a:uFillTx/>
              <a:latin typeface="Arial"/>
            </a:endParaRPr>
          </a:p>
        </p:txBody>
      </p:sp>
      <p:sp>
        <p:nvSpPr>
          <p:cNvPr id="192" name="Text 5"/>
          <p:cNvSpPr/>
          <p:nvPr/>
        </p:nvSpPr>
        <p:spPr>
          <a:xfrm>
            <a:off x="1828800" y="21337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Kapsam 1–2–3, emisyon faktörleri, tCO₂e hesaplama, onay akışı.</a:t>
            </a:r>
            <a:endParaRPr lang="en-GB" sz="1050" b="0" u="none" strike="noStrike">
              <a:solidFill>
                <a:srgbClr val="000000"/>
              </a:solidFill>
              <a:effectLst/>
              <a:uFillTx/>
              <a:latin typeface="Arial"/>
            </a:endParaRPr>
          </a:p>
        </p:txBody>
      </p:sp>
      <p:sp>
        <p:nvSpPr>
          <p:cNvPr id="193" name="Shape 6"/>
          <p:cNvSpPr/>
          <p:nvPr/>
        </p:nvSpPr>
        <p:spPr>
          <a:xfrm>
            <a:off x="6231600" y="137160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94" name="Shape 7"/>
          <p:cNvSpPr/>
          <p:nvPr/>
        </p:nvSpPr>
        <p:spPr>
          <a:xfrm>
            <a:off x="6505920" y="174492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195" name="Image 1" descr="icons/FaBalanceScale.png"/>
          <p:cNvPicPr/>
          <p:nvPr/>
        </p:nvPicPr>
        <p:blipFill>
          <a:blip r:embed="rId2"/>
          <a:stretch/>
        </p:blipFill>
        <p:spPr>
          <a:xfrm>
            <a:off x="6700320" y="1939320"/>
            <a:ext cx="388440" cy="388440"/>
          </a:xfrm>
          <a:prstGeom prst="rect">
            <a:avLst/>
          </a:prstGeom>
          <a:noFill/>
          <a:ln w="0">
            <a:noFill/>
          </a:ln>
        </p:spPr>
      </p:pic>
      <p:sp>
        <p:nvSpPr>
          <p:cNvPr id="196" name="Text 8"/>
          <p:cNvSpPr/>
          <p:nvPr/>
        </p:nvSpPr>
        <p:spPr>
          <a:xfrm>
            <a:off x="7511760" y="153612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Çifte Önemlilik (DMA)</a:t>
            </a:r>
            <a:endParaRPr lang="en-GB" sz="1400" b="0" u="none" strike="noStrike">
              <a:solidFill>
                <a:srgbClr val="000000"/>
              </a:solidFill>
              <a:effectLst/>
              <a:uFillTx/>
              <a:latin typeface="Arial"/>
            </a:endParaRPr>
          </a:p>
        </p:txBody>
      </p:sp>
      <p:sp>
        <p:nvSpPr>
          <p:cNvPr id="197" name="Text 9"/>
          <p:cNvSpPr/>
          <p:nvPr/>
        </p:nvSpPr>
        <p:spPr>
          <a:xfrm>
            <a:off x="7511760" y="21337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GRI / ESRS / ISSB'ye göre konu puanlama ve matris tasarımı.</a:t>
            </a:r>
            <a:endParaRPr lang="en-GB" sz="1050" b="0" u="none" strike="noStrike">
              <a:solidFill>
                <a:srgbClr val="000000"/>
              </a:solidFill>
              <a:effectLst/>
              <a:uFillTx/>
              <a:latin typeface="Arial"/>
            </a:endParaRPr>
          </a:p>
        </p:txBody>
      </p:sp>
      <p:sp>
        <p:nvSpPr>
          <p:cNvPr id="198" name="Shape 10"/>
          <p:cNvSpPr/>
          <p:nvPr/>
        </p:nvSpPr>
        <p:spPr>
          <a:xfrm>
            <a:off x="548640" y="316980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199" name="Shape 11"/>
          <p:cNvSpPr/>
          <p:nvPr/>
        </p:nvSpPr>
        <p:spPr>
          <a:xfrm>
            <a:off x="822960" y="3543480"/>
            <a:ext cx="776880" cy="77688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200" name="Image 2" descr="icons/FaPoll.png"/>
          <p:cNvPicPr/>
          <p:nvPr/>
        </p:nvPicPr>
        <p:blipFill>
          <a:blip r:embed="rId3"/>
          <a:stretch/>
        </p:blipFill>
        <p:spPr>
          <a:xfrm>
            <a:off x="1017360" y="3737520"/>
            <a:ext cx="388440" cy="388440"/>
          </a:xfrm>
          <a:prstGeom prst="rect">
            <a:avLst/>
          </a:prstGeom>
          <a:noFill/>
          <a:ln w="0">
            <a:noFill/>
          </a:ln>
        </p:spPr>
      </p:pic>
      <p:sp>
        <p:nvSpPr>
          <p:cNvPr id="201" name="Text 12"/>
          <p:cNvSpPr/>
          <p:nvPr/>
        </p:nvSpPr>
        <p:spPr>
          <a:xfrm>
            <a:off x="1828800" y="333468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Önemlilik Anketleri</a:t>
            </a:r>
            <a:endParaRPr lang="en-GB" sz="1400" b="0" u="none" strike="noStrike">
              <a:solidFill>
                <a:srgbClr val="000000"/>
              </a:solidFill>
              <a:effectLst/>
              <a:uFillTx/>
              <a:latin typeface="Arial"/>
            </a:endParaRPr>
          </a:p>
        </p:txBody>
      </p:sp>
      <p:sp>
        <p:nvSpPr>
          <p:cNvPr id="202" name="Text 13"/>
          <p:cNvSpPr/>
          <p:nvPr/>
        </p:nvSpPr>
        <p:spPr>
          <a:xfrm>
            <a:off x="1828800" y="39319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Ağırlıklı paydaş grupları, mobil uyumlu girişsiz anket, gerçek zamanlı matris.</a:t>
            </a:r>
            <a:endParaRPr lang="en-GB" sz="1050" b="0" u="none" strike="noStrike">
              <a:solidFill>
                <a:srgbClr val="000000"/>
              </a:solidFill>
              <a:effectLst/>
              <a:uFillTx/>
              <a:latin typeface="Arial"/>
            </a:endParaRPr>
          </a:p>
        </p:txBody>
      </p:sp>
      <p:sp>
        <p:nvSpPr>
          <p:cNvPr id="203" name="Shape 14"/>
          <p:cNvSpPr/>
          <p:nvPr/>
        </p:nvSpPr>
        <p:spPr>
          <a:xfrm>
            <a:off x="6231600" y="316980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04" name="Shape 15"/>
          <p:cNvSpPr/>
          <p:nvPr/>
        </p:nvSpPr>
        <p:spPr>
          <a:xfrm>
            <a:off x="6505920" y="3543480"/>
            <a:ext cx="776880" cy="77688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205" name="Image 3" descr="icons/FaClipboardCheck.png"/>
          <p:cNvPicPr/>
          <p:nvPr/>
        </p:nvPicPr>
        <p:blipFill>
          <a:blip r:embed="rId4"/>
          <a:stretch/>
        </p:blipFill>
        <p:spPr>
          <a:xfrm>
            <a:off x="6700320" y="3737520"/>
            <a:ext cx="388440" cy="388440"/>
          </a:xfrm>
          <a:prstGeom prst="rect">
            <a:avLst/>
          </a:prstGeom>
          <a:noFill/>
          <a:ln w="0">
            <a:noFill/>
          </a:ln>
        </p:spPr>
      </p:pic>
      <p:sp>
        <p:nvSpPr>
          <p:cNvPr id="206" name="Text 16"/>
          <p:cNvSpPr/>
          <p:nvPr/>
        </p:nvSpPr>
        <p:spPr>
          <a:xfrm>
            <a:off x="7511760" y="333468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Uyum Denetimi</a:t>
            </a:r>
            <a:endParaRPr lang="en-GB" sz="1400" b="0" u="none" strike="noStrike">
              <a:solidFill>
                <a:srgbClr val="000000"/>
              </a:solidFill>
              <a:effectLst/>
              <a:uFillTx/>
              <a:latin typeface="Arial"/>
            </a:endParaRPr>
          </a:p>
        </p:txBody>
      </p:sp>
      <p:sp>
        <p:nvSpPr>
          <p:cNvPr id="207" name="Text 17"/>
          <p:cNvSpPr/>
          <p:nvPr/>
        </p:nvSpPr>
        <p:spPr>
          <a:xfrm>
            <a:off x="7511760" y="39319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Çerçeve bazlı eksiklik kontrolü ve çerçeveler arası tutarlılık denetimi.</a:t>
            </a:r>
            <a:endParaRPr lang="en-GB" sz="1050" b="0" u="none" strike="noStrike">
              <a:solidFill>
                <a:srgbClr val="000000"/>
              </a:solidFill>
              <a:effectLst/>
              <a:uFillTx/>
              <a:latin typeface="Arial"/>
            </a:endParaRPr>
          </a:p>
        </p:txBody>
      </p:sp>
      <p:sp>
        <p:nvSpPr>
          <p:cNvPr id="208" name="Shape 18"/>
          <p:cNvSpPr/>
          <p:nvPr/>
        </p:nvSpPr>
        <p:spPr>
          <a:xfrm>
            <a:off x="548640" y="496836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09" name="Shape 19"/>
          <p:cNvSpPr/>
          <p:nvPr/>
        </p:nvSpPr>
        <p:spPr>
          <a:xfrm>
            <a:off x="822960" y="534168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210" name="Image 4" descr="icons/FaChartLine.png"/>
          <p:cNvPicPr/>
          <p:nvPr/>
        </p:nvPicPr>
        <p:blipFill>
          <a:blip r:embed="rId5"/>
          <a:stretch/>
        </p:blipFill>
        <p:spPr>
          <a:xfrm>
            <a:off x="1017360" y="5536080"/>
            <a:ext cx="388440" cy="388440"/>
          </a:xfrm>
          <a:prstGeom prst="rect">
            <a:avLst/>
          </a:prstGeom>
          <a:noFill/>
          <a:ln w="0">
            <a:noFill/>
          </a:ln>
        </p:spPr>
      </p:pic>
      <p:sp>
        <p:nvSpPr>
          <p:cNvPr id="211" name="Text 20"/>
          <p:cNvSpPr/>
          <p:nvPr/>
        </p:nvSpPr>
        <p:spPr>
          <a:xfrm>
            <a:off x="1828800" y="513288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İklim Senaryo Analizi</a:t>
            </a:r>
            <a:endParaRPr lang="en-GB" sz="1400" b="0" u="none" strike="noStrike">
              <a:solidFill>
                <a:srgbClr val="000000"/>
              </a:solidFill>
              <a:effectLst/>
              <a:uFillTx/>
              <a:latin typeface="Arial"/>
            </a:endParaRPr>
          </a:p>
        </p:txBody>
      </p:sp>
      <p:sp>
        <p:nvSpPr>
          <p:cNvPr id="212" name="Text 21"/>
          <p:cNvSpPr/>
          <p:nvPr/>
        </p:nvSpPr>
        <p:spPr>
          <a:xfrm>
            <a:off x="1828800" y="57301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Karbonsuzlaşma yol haritaları ve geçiş kaldıraçları.</a:t>
            </a:r>
            <a:endParaRPr lang="en-GB" sz="1050" b="0" u="none" strike="noStrike">
              <a:solidFill>
                <a:srgbClr val="000000"/>
              </a:solidFill>
              <a:effectLst/>
              <a:uFillTx/>
              <a:latin typeface="Arial"/>
            </a:endParaRPr>
          </a:p>
        </p:txBody>
      </p:sp>
      <p:sp>
        <p:nvSpPr>
          <p:cNvPr id="213" name="Shape 22"/>
          <p:cNvSpPr/>
          <p:nvPr/>
        </p:nvSpPr>
        <p:spPr>
          <a:xfrm>
            <a:off x="6231600" y="496836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14" name="Shape 23"/>
          <p:cNvSpPr/>
          <p:nvPr/>
        </p:nvSpPr>
        <p:spPr>
          <a:xfrm>
            <a:off x="6505920" y="534168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215" name="Image 5" descr="icons/FaIndustry.png"/>
          <p:cNvPicPr/>
          <p:nvPr/>
        </p:nvPicPr>
        <p:blipFill>
          <a:blip r:embed="rId6"/>
          <a:stretch/>
        </p:blipFill>
        <p:spPr>
          <a:xfrm>
            <a:off x="6700320" y="5536080"/>
            <a:ext cx="388440" cy="388440"/>
          </a:xfrm>
          <a:prstGeom prst="rect">
            <a:avLst/>
          </a:prstGeom>
          <a:noFill/>
          <a:ln w="0">
            <a:noFill/>
          </a:ln>
        </p:spPr>
      </p:pic>
      <p:sp>
        <p:nvSpPr>
          <p:cNvPr id="216" name="Text 24"/>
          <p:cNvSpPr/>
          <p:nvPr/>
        </p:nvSpPr>
        <p:spPr>
          <a:xfrm>
            <a:off x="7511760" y="513288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Sektör Sınıflandırma</a:t>
            </a:r>
            <a:endParaRPr lang="en-GB" sz="1400" b="0" u="none" strike="noStrike">
              <a:solidFill>
                <a:srgbClr val="000000"/>
              </a:solidFill>
              <a:effectLst/>
              <a:uFillTx/>
              <a:latin typeface="Arial"/>
            </a:endParaRPr>
          </a:p>
        </p:txBody>
      </p:sp>
      <p:sp>
        <p:nvSpPr>
          <p:cNvPr id="217" name="Text 25"/>
          <p:cNvSpPr/>
          <p:nvPr/>
        </p:nvSpPr>
        <p:spPr>
          <a:xfrm>
            <a:off x="7511760" y="57301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Sektör, NACE ve SASB eşlemeleri.</a:t>
            </a:r>
            <a:endParaRPr lang="en-GB"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8" name="Text 0"/>
          <p:cNvSpPr/>
          <p:nvPr/>
        </p:nvSpPr>
        <p:spPr>
          <a:xfrm>
            <a:off x="548640" y="164520"/>
            <a:ext cx="91436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pc="201" strike="noStrike">
                <a:solidFill>
                  <a:srgbClr val="1c7293"/>
                </a:solidFill>
                <a:effectLst/>
                <a:uFillTx/>
                <a:latin typeface="Calibri"/>
                <a:ea typeface="Calibri"/>
              </a:rPr>
              <a:t>MODÜLLER</a:t>
            </a:r>
            <a:endParaRPr lang="en-GB" sz="1200" b="0" u="none" strike="noStrike">
              <a:solidFill>
                <a:srgbClr val="000000"/>
              </a:solidFill>
              <a:effectLst/>
              <a:uFillTx/>
              <a:latin typeface="Arial"/>
            </a:endParaRPr>
          </a:p>
        </p:txBody>
      </p:sp>
      <p:sp>
        <p:nvSpPr>
          <p:cNvPr id="219" name="Text 1"/>
          <p:cNvSpPr/>
          <p:nvPr/>
        </p:nvSpPr>
        <p:spPr>
          <a:xfrm>
            <a:off x="548640" y="41148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200" b="1" u="none" strike="noStrike">
                <a:solidFill>
                  <a:srgbClr val="21295c"/>
                </a:solidFill>
                <a:effectLst/>
                <a:uFillTx/>
                <a:latin typeface="Cambria"/>
                <a:ea typeface="Cambria"/>
              </a:rPr>
              <a:t>Yönetişim ve Operasyon</a:t>
            </a:r>
            <a:endParaRPr lang="en-GB" sz="3200" b="0" u="none" strike="noStrike">
              <a:solidFill>
                <a:srgbClr val="000000"/>
              </a:solidFill>
              <a:effectLst/>
              <a:uFillTx/>
              <a:latin typeface="Arial"/>
            </a:endParaRPr>
          </a:p>
        </p:txBody>
      </p:sp>
      <p:sp>
        <p:nvSpPr>
          <p:cNvPr id="220" name="Shape 2"/>
          <p:cNvSpPr/>
          <p:nvPr/>
        </p:nvSpPr>
        <p:spPr>
          <a:xfrm>
            <a:off x="548640" y="137160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21" name="Shape 3"/>
          <p:cNvSpPr/>
          <p:nvPr/>
        </p:nvSpPr>
        <p:spPr>
          <a:xfrm>
            <a:off x="822960" y="174492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222" name="Image 0" descr="icons/FaUserCheck.png"/>
          <p:cNvPicPr/>
          <p:nvPr/>
        </p:nvPicPr>
        <p:blipFill>
          <a:blip r:embed="rId1"/>
          <a:stretch/>
        </p:blipFill>
        <p:spPr>
          <a:xfrm>
            <a:off x="1017360" y="1939320"/>
            <a:ext cx="388440" cy="388440"/>
          </a:xfrm>
          <a:prstGeom prst="rect">
            <a:avLst/>
          </a:prstGeom>
          <a:noFill/>
          <a:ln w="0">
            <a:noFill/>
          </a:ln>
        </p:spPr>
      </p:pic>
      <p:sp>
        <p:nvSpPr>
          <p:cNvPr id="223" name="Text 4"/>
          <p:cNvSpPr/>
          <p:nvPr/>
        </p:nvSpPr>
        <p:spPr>
          <a:xfrm>
            <a:off x="1828800" y="153612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Denetim (Assurance)</a:t>
            </a:r>
            <a:endParaRPr lang="en-GB" sz="1400" b="0" u="none" strike="noStrike">
              <a:solidFill>
                <a:srgbClr val="000000"/>
              </a:solidFill>
              <a:effectLst/>
              <a:uFillTx/>
              <a:latin typeface="Arial"/>
            </a:endParaRPr>
          </a:p>
        </p:txBody>
      </p:sp>
      <p:sp>
        <p:nvSpPr>
          <p:cNvPr id="224" name="Text 5"/>
          <p:cNvSpPr/>
          <p:nvPr/>
        </p:nvSpPr>
        <p:spPr>
          <a:xfrm>
            <a:off x="1828800" y="21337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Denetçi inceleme akışı: kabul / ret / açıklama talebi, sistem denetim kaydı.</a:t>
            </a:r>
            <a:endParaRPr lang="en-GB" sz="1050" b="0" u="none" strike="noStrike">
              <a:solidFill>
                <a:srgbClr val="000000"/>
              </a:solidFill>
              <a:effectLst/>
              <a:uFillTx/>
              <a:latin typeface="Arial"/>
            </a:endParaRPr>
          </a:p>
        </p:txBody>
      </p:sp>
      <p:sp>
        <p:nvSpPr>
          <p:cNvPr id="225" name="Shape 6"/>
          <p:cNvSpPr/>
          <p:nvPr/>
        </p:nvSpPr>
        <p:spPr>
          <a:xfrm>
            <a:off x="6231600" y="137160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26" name="Shape 7"/>
          <p:cNvSpPr/>
          <p:nvPr/>
        </p:nvSpPr>
        <p:spPr>
          <a:xfrm>
            <a:off x="6505920" y="174492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227" name="Image 1" descr="icons/FaCloudUploadAlt.png"/>
          <p:cNvPicPr/>
          <p:nvPr/>
        </p:nvPicPr>
        <p:blipFill>
          <a:blip r:embed="rId2"/>
          <a:stretch/>
        </p:blipFill>
        <p:spPr>
          <a:xfrm>
            <a:off x="6700320" y="1939320"/>
            <a:ext cx="388440" cy="388440"/>
          </a:xfrm>
          <a:prstGeom prst="rect">
            <a:avLst/>
          </a:prstGeom>
          <a:noFill/>
          <a:ln w="0">
            <a:noFill/>
          </a:ln>
        </p:spPr>
      </p:pic>
      <p:sp>
        <p:nvSpPr>
          <p:cNvPr id="228" name="Text 8"/>
          <p:cNvSpPr/>
          <p:nvPr/>
        </p:nvSpPr>
        <p:spPr>
          <a:xfrm>
            <a:off x="7511760" y="153612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Otomatik Yedekleme</a:t>
            </a:r>
            <a:endParaRPr lang="en-GB" sz="1400" b="0" u="none" strike="noStrike">
              <a:solidFill>
                <a:srgbClr val="000000"/>
              </a:solidFill>
              <a:effectLst/>
              <a:uFillTx/>
              <a:latin typeface="Arial"/>
            </a:endParaRPr>
          </a:p>
        </p:txBody>
      </p:sp>
      <p:sp>
        <p:nvSpPr>
          <p:cNvPr id="229" name="Text 9"/>
          <p:cNvSpPr/>
          <p:nvPr/>
        </p:nvSpPr>
        <p:spPr>
          <a:xfrm>
            <a:off x="7511760" y="21337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Zamanlanmış veri yedekleri.</a:t>
            </a:r>
            <a:endParaRPr lang="en-GB" sz="1050" b="0" u="none" strike="noStrike">
              <a:solidFill>
                <a:srgbClr val="000000"/>
              </a:solidFill>
              <a:effectLst/>
              <a:uFillTx/>
              <a:latin typeface="Arial"/>
            </a:endParaRPr>
          </a:p>
        </p:txBody>
      </p:sp>
      <p:sp>
        <p:nvSpPr>
          <p:cNvPr id="230" name="Shape 10"/>
          <p:cNvSpPr/>
          <p:nvPr/>
        </p:nvSpPr>
        <p:spPr>
          <a:xfrm>
            <a:off x="548640" y="316980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31" name="Shape 11"/>
          <p:cNvSpPr/>
          <p:nvPr/>
        </p:nvSpPr>
        <p:spPr>
          <a:xfrm>
            <a:off x="822960" y="3543480"/>
            <a:ext cx="776880" cy="77688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232" name="Image 2" descr="icons/FaLock.png"/>
          <p:cNvPicPr/>
          <p:nvPr/>
        </p:nvPicPr>
        <p:blipFill>
          <a:blip r:embed="rId3"/>
          <a:stretch/>
        </p:blipFill>
        <p:spPr>
          <a:xfrm>
            <a:off x="1017360" y="3737520"/>
            <a:ext cx="388440" cy="388440"/>
          </a:xfrm>
          <a:prstGeom prst="rect">
            <a:avLst/>
          </a:prstGeom>
          <a:noFill/>
          <a:ln w="0">
            <a:noFill/>
          </a:ln>
        </p:spPr>
      </p:pic>
      <p:sp>
        <p:nvSpPr>
          <p:cNvPr id="233" name="Text 12"/>
          <p:cNvSpPr/>
          <p:nvPr/>
        </p:nvSpPr>
        <p:spPr>
          <a:xfrm>
            <a:off x="1828800" y="333468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Güvenli Giriş</a:t>
            </a:r>
            <a:endParaRPr lang="en-GB" sz="1400" b="0" u="none" strike="noStrike">
              <a:solidFill>
                <a:srgbClr val="000000"/>
              </a:solidFill>
              <a:effectLst/>
              <a:uFillTx/>
              <a:latin typeface="Arial"/>
            </a:endParaRPr>
          </a:p>
        </p:txBody>
      </p:sp>
      <p:sp>
        <p:nvSpPr>
          <p:cNvPr id="234" name="Text 13"/>
          <p:cNvSpPr/>
          <p:nvPr/>
        </p:nvSpPr>
        <p:spPr>
          <a:xfrm>
            <a:off x="1828800" y="39319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Parola ve tek kullanımlık kod (OTP) ile kimlik doğrulama.</a:t>
            </a:r>
            <a:endParaRPr lang="en-GB" sz="1050" b="0" u="none" strike="noStrike">
              <a:solidFill>
                <a:srgbClr val="000000"/>
              </a:solidFill>
              <a:effectLst/>
              <a:uFillTx/>
              <a:latin typeface="Arial"/>
            </a:endParaRPr>
          </a:p>
        </p:txBody>
      </p:sp>
      <p:sp>
        <p:nvSpPr>
          <p:cNvPr id="235" name="Shape 14"/>
          <p:cNvSpPr/>
          <p:nvPr/>
        </p:nvSpPr>
        <p:spPr>
          <a:xfrm>
            <a:off x="6231600" y="316980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36" name="Shape 15"/>
          <p:cNvSpPr/>
          <p:nvPr/>
        </p:nvSpPr>
        <p:spPr>
          <a:xfrm>
            <a:off x="6505920" y="3543480"/>
            <a:ext cx="776880" cy="77688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237" name="Image 3" descr="icons/FaGlobe.png"/>
          <p:cNvPicPr/>
          <p:nvPr/>
        </p:nvPicPr>
        <p:blipFill>
          <a:blip r:embed="rId4"/>
          <a:stretch/>
        </p:blipFill>
        <p:spPr>
          <a:xfrm>
            <a:off x="6700320" y="3737520"/>
            <a:ext cx="388440" cy="388440"/>
          </a:xfrm>
          <a:prstGeom prst="rect">
            <a:avLst/>
          </a:prstGeom>
          <a:noFill/>
          <a:ln w="0">
            <a:noFill/>
          </a:ln>
        </p:spPr>
      </p:pic>
      <p:sp>
        <p:nvSpPr>
          <p:cNvPr id="238" name="Text 16"/>
          <p:cNvSpPr/>
          <p:nvPr/>
        </p:nvSpPr>
        <p:spPr>
          <a:xfrm>
            <a:off x="7511760" y="333468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Çift Dil ve Özelleştirme</a:t>
            </a:r>
            <a:endParaRPr lang="en-GB" sz="1400" b="0" u="none" strike="noStrike">
              <a:solidFill>
                <a:srgbClr val="000000"/>
              </a:solidFill>
              <a:effectLst/>
              <a:uFillTx/>
              <a:latin typeface="Arial"/>
            </a:endParaRPr>
          </a:p>
        </p:txBody>
      </p:sp>
      <p:sp>
        <p:nvSpPr>
          <p:cNvPr id="239" name="Text 17"/>
          <p:cNvSpPr/>
          <p:nvPr/>
        </p:nvSpPr>
        <p:spPr>
          <a:xfrm>
            <a:off x="7511760" y="39319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Türkçe/İngilizce çeviri yönetimi, modül aç/kapat, marka özelleştirme.</a:t>
            </a:r>
            <a:endParaRPr lang="en-GB" sz="1050" b="0" u="none" strike="noStrike">
              <a:solidFill>
                <a:srgbClr val="000000"/>
              </a:solidFill>
              <a:effectLst/>
              <a:uFillTx/>
              <a:latin typeface="Arial"/>
            </a:endParaRPr>
          </a:p>
        </p:txBody>
      </p:sp>
      <p:sp>
        <p:nvSpPr>
          <p:cNvPr id="240" name="Shape 18"/>
          <p:cNvSpPr/>
          <p:nvPr/>
        </p:nvSpPr>
        <p:spPr>
          <a:xfrm>
            <a:off x="548640" y="496836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41" name="Shape 19"/>
          <p:cNvSpPr/>
          <p:nvPr/>
        </p:nvSpPr>
        <p:spPr>
          <a:xfrm>
            <a:off x="822960" y="534168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242" name="Image 4" descr="icons/FaBook.png"/>
          <p:cNvPicPr/>
          <p:nvPr/>
        </p:nvPicPr>
        <p:blipFill>
          <a:blip r:embed="rId5"/>
          <a:stretch/>
        </p:blipFill>
        <p:spPr>
          <a:xfrm>
            <a:off x="1017360" y="5536080"/>
            <a:ext cx="388440" cy="388440"/>
          </a:xfrm>
          <a:prstGeom prst="rect">
            <a:avLst/>
          </a:prstGeom>
          <a:noFill/>
          <a:ln w="0">
            <a:noFill/>
          </a:ln>
        </p:spPr>
      </p:pic>
      <p:sp>
        <p:nvSpPr>
          <p:cNvPr id="243" name="Text 20"/>
          <p:cNvSpPr/>
          <p:nvPr/>
        </p:nvSpPr>
        <p:spPr>
          <a:xfrm>
            <a:off x="1828800" y="513288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Uygulama İçi Rehber</a:t>
            </a:r>
            <a:endParaRPr lang="en-GB" sz="1400" b="0" u="none" strike="noStrike">
              <a:solidFill>
                <a:srgbClr val="000000"/>
              </a:solidFill>
              <a:effectLst/>
              <a:uFillTx/>
              <a:latin typeface="Arial"/>
            </a:endParaRPr>
          </a:p>
        </p:txBody>
      </p:sp>
      <p:sp>
        <p:nvSpPr>
          <p:cNvPr id="244" name="Text 21"/>
          <p:cNvSpPr/>
          <p:nvPr/>
        </p:nvSpPr>
        <p:spPr>
          <a:xfrm>
            <a:off x="1828800" y="57301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Rollere ve özelliklere göre adım adım kullanım kılavuzu.</a:t>
            </a:r>
            <a:endParaRPr lang="en-GB" sz="1050" b="0" u="none" strike="noStrike">
              <a:solidFill>
                <a:srgbClr val="000000"/>
              </a:solidFill>
              <a:effectLst/>
              <a:uFillTx/>
              <a:latin typeface="Arial"/>
            </a:endParaRPr>
          </a:p>
        </p:txBody>
      </p:sp>
      <p:sp>
        <p:nvSpPr>
          <p:cNvPr id="245" name="Shape 22"/>
          <p:cNvSpPr/>
          <p:nvPr/>
        </p:nvSpPr>
        <p:spPr>
          <a:xfrm>
            <a:off x="6231600" y="4968360"/>
            <a:ext cx="5408280" cy="1523520"/>
          </a:xfrm>
          <a:prstGeom prst="roundRect">
            <a:avLst>
              <a:gd name="adj" fmla="val 4800"/>
            </a:avLst>
          </a:prstGeom>
          <a:solidFill>
            <a:srgbClr val="ffffff"/>
          </a:solidFill>
          <a:ln w="9525">
            <a:solidFill>
              <a:srgbClr val="e1e8ed"/>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46" name="Shape 23"/>
          <p:cNvSpPr/>
          <p:nvPr/>
        </p:nvSpPr>
        <p:spPr>
          <a:xfrm>
            <a:off x="6505920" y="5341680"/>
            <a:ext cx="776880" cy="7768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247" name="Image 5" descr="icons/FaPlug.png"/>
          <p:cNvPicPr/>
          <p:nvPr/>
        </p:nvPicPr>
        <p:blipFill>
          <a:blip r:embed="rId6"/>
          <a:stretch/>
        </p:blipFill>
        <p:spPr>
          <a:xfrm>
            <a:off x="6700320" y="5536080"/>
            <a:ext cx="388440" cy="388440"/>
          </a:xfrm>
          <a:prstGeom prst="rect">
            <a:avLst/>
          </a:prstGeom>
          <a:noFill/>
          <a:ln w="0">
            <a:noFill/>
          </a:ln>
        </p:spPr>
      </p:pic>
      <p:sp>
        <p:nvSpPr>
          <p:cNvPr id="248" name="Text 24"/>
          <p:cNvSpPr/>
          <p:nvPr/>
        </p:nvSpPr>
        <p:spPr>
          <a:xfrm>
            <a:off x="7511760" y="5132880"/>
            <a:ext cx="3899520" cy="639720"/>
          </a:xfrm>
          <a:prstGeom prst="rect">
            <a:avLst/>
          </a:prstGeom>
          <a:noFill/>
          <a:ln w="0">
            <a:noFill/>
          </a:ln>
        </p:spPr>
        <p:style>
          <a:lnRef idx="0"/>
          <a:fillRef idx="0"/>
          <a:effectRef idx="0"/>
          <a:fontRef idx="minor"/>
        </p:style>
        <p:txBody>
          <a:bodyPr lIns="0" rIns="0" tIns="0" bIns="0" anchor="b">
            <a:noAutofit/>
          </a:bodyPr>
          <a:p>
            <a:pPr defTabSz="914400">
              <a:lnSpc>
                <a:spcPts val="1599"/>
              </a:lnSpc>
              <a:tabLst>
                <a:tab algn="l" pos="0"/>
              </a:tabLst>
            </a:pPr>
            <a:r>
              <a:rPr lang="en-US" sz="1400" b="1" u="none" strike="noStrike">
                <a:solidFill>
                  <a:srgbClr val="21295c"/>
                </a:solidFill>
                <a:effectLst/>
                <a:uFillTx/>
                <a:latin typeface="Cambria"/>
                <a:ea typeface="Cambria"/>
              </a:rPr>
              <a:t>Harici Entegrasyon API'si</a:t>
            </a:r>
            <a:endParaRPr lang="en-GB" sz="1400" b="0" u="none" strike="noStrike">
              <a:solidFill>
                <a:srgbClr val="000000"/>
              </a:solidFill>
              <a:effectLst/>
              <a:uFillTx/>
              <a:latin typeface="Arial"/>
            </a:endParaRPr>
          </a:p>
        </p:txBody>
      </p:sp>
      <p:sp>
        <p:nvSpPr>
          <p:cNvPr id="249" name="Text 25"/>
          <p:cNvSpPr/>
          <p:nvPr/>
        </p:nvSpPr>
        <p:spPr>
          <a:xfrm>
            <a:off x="7511760" y="5730120"/>
            <a:ext cx="3899520" cy="70056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Müşteri verilerine güvenli programatik erişim.</a:t>
            </a:r>
            <a:endParaRPr lang="en-GB"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0" name="Text 0"/>
          <p:cNvSpPr/>
          <p:nvPr/>
        </p:nvSpPr>
        <p:spPr>
          <a:xfrm>
            <a:off x="548640" y="164520"/>
            <a:ext cx="91436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pc="201" strike="noStrike">
                <a:solidFill>
                  <a:srgbClr val="1c7293"/>
                </a:solidFill>
                <a:effectLst/>
                <a:uFillTx/>
                <a:latin typeface="Calibri"/>
                <a:ea typeface="Calibri"/>
              </a:rPr>
              <a:t>KAPSAM</a:t>
            </a:r>
            <a:endParaRPr lang="en-GB" sz="1200" b="0" u="none" strike="noStrike">
              <a:solidFill>
                <a:srgbClr val="000000"/>
              </a:solidFill>
              <a:effectLst/>
              <a:uFillTx/>
              <a:latin typeface="Arial"/>
            </a:endParaRPr>
          </a:p>
        </p:txBody>
      </p:sp>
      <p:sp>
        <p:nvSpPr>
          <p:cNvPr id="251" name="Text 1"/>
          <p:cNvSpPr/>
          <p:nvPr/>
        </p:nvSpPr>
        <p:spPr>
          <a:xfrm>
            <a:off x="548640" y="41148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200" b="1" u="none" strike="noStrike">
                <a:solidFill>
                  <a:srgbClr val="21295c"/>
                </a:solidFill>
                <a:effectLst/>
                <a:uFillTx/>
                <a:latin typeface="Cambria"/>
                <a:ea typeface="Cambria"/>
              </a:rPr>
              <a:t>Desteklenen Standart ve Çerçeveler</a:t>
            </a:r>
            <a:endParaRPr lang="en-GB" sz="3200" b="0" u="none" strike="noStrike">
              <a:solidFill>
                <a:srgbClr val="000000"/>
              </a:solidFill>
              <a:effectLst/>
              <a:uFillTx/>
              <a:latin typeface="Arial"/>
            </a:endParaRPr>
          </a:p>
        </p:txBody>
      </p:sp>
      <p:sp>
        <p:nvSpPr>
          <p:cNvPr id="252" name="Text 2"/>
          <p:cNvSpPr/>
          <p:nvPr/>
        </p:nvSpPr>
        <p:spPr>
          <a:xfrm>
            <a:off x="548640" y="1325880"/>
            <a:ext cx="11063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350" b="0" i="1" u="none" strike="noStrike">
                <a:solidFill>
                  <a:srgbClr val="5a6b78"/>
                </a:solidFill>
                <a:effectLst/>
                <a:uFillTx/>
                <a:latin typeface="Calibri"/>
                <a:ea typeface="Calibri"/>
              </a:rPr>
              <a:t>GovernanceIQ, güncel sürdürülebilirlik raporlama çerçevelerini kapsar.</a:t>
            </a:r>
            <a:endParaRPr lang="en-GB" sz="1350" b="0" u="none" strike="noStrike">
              <a:solidFill>
                <a:srgbClr val="000000"/>
              </a:solidFill>
              <a:effectLst/>
              <a:uFillTx/>
              <a:latin typeface="Arial"/>
            </a:endParaRPr>
          </a:p>
        </p:txBody>
      </p:sp>
      <p:sp>
        <p:nvSpPr>
          <p:cNvPr id="253" name="Shape 3"/>
          <p:cNvSpPr/>
          <p:nvPr/>
        </p:nvSpPr>
        <p:spPr>
          <a:xfrm>
            <a:off x="548640" y="2057400"/>
            <a:ext cx="3513960" cy="1234080"/>
          </a:xfrm>
          <a:prstGeom prst="roundRect">
            <a:avLst>
              <a:gd name="adj" fmla="val 5926"/>
            </a:avLst>
          </a:prstGeom>
          <a:solidFill>
            <a:srgbClr val="eff5f8"/>
          </a:solidFill>
          <a:ln w="12700">
            <a:solidFill>
              <a:srgbClr val="e1e8ed"/>
            </a:solidFill>
            <a:round/>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54" name="Text 4"/>
          <p:cNvSpPr/>
          <p:nvPr/>
        </p:nvSpPr>
        <p:spPr>
          <a:xfrm>
            <a:off x="777240" y="2203560"/>
            <a:ext cx="30567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21295c"/>
                </a:solidFill>
                <a:effectLst/>
                <a:uFillTx/>
                <a:latin typeface="Cambria"/>
                <a:ea typeface="Cambria"/>
              </a:rPr>
              <a:t>GRI</a:t>
            </a:r>
            <a:endParaRPr lang="en-GB" sz="1600" b="0" u="none" strike="noStrike">
              <a:solidFill>
                <a:srgbClr val="000000"/>
              </a:solidFill>
              <a:effectLst/>
              <a:uFillTx/>
              <a:latin typeface="Arial"/>
            </a:endParaRPr>
          </a:p>
        </p:txBody>
      </p:sp>
      <p:sp>
        <p:nvSpPr>
          <p:cNvPr id="255" name="Text 5"/>
          <p:cNvSpPr/>
          <p:nvPr/>
        </p:nvSpPr>
        <p:spPr>
          <a:xfrm>
            <a:off x="777240" y="2587680"/>
            <a:ext cx="3056760" cy="65808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Global Reporting Initiative</a:t>
            </a:r>
            <a:endParaRPr lang="en-GB" sz="1050" b="0" u="none" strike="noStrike">
              <a:solidFill>
                <a:srgbClr val="000000"/>
              </a:solidFill>
              <a:effectLst/>
              <a:uFillTx/>
              <a:latin typeface="Arial"/>
            </a:endParaRPr>
          </a:p>
        </p:txBody>
      </p:sp>
      <p:sp>
        <p:nvSpPr>
          <p:cNvPr id="256" name="Shape 6"/>
          <p:cNvSpPr/>
          <p:nvPr/>
        </p:nvSpPr>
        <p:spPr>
          <a:xfrm>
            <a:off x="4337280" y="2057400"/>
            <a:ext cx="3513960" cy="1234080"/>
          </a:xfrm>
          <a:prstGeom prst="roundRect">
            <a:avLst>
              <a:gd name="adj" fmla="val 5926"/>
            </a:avLst>
          </a:prstGeom>
          <a:solidFill>
            <a:srgbClr val="eff5f8"/>
          </a:solidFill>
          <a:ln w="12700">
            <a:solidFill>
              <a:srgbClr val="e1e8ed"/>
            </a:solidFill>
            <a:round/>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57" name="Text 7"/>
          <p:cNvSpPr/>
          <p:nvPr/>
        </p:nvSpPr>
        <p:spPr>
          <a:xfrm>
            <a:off x="4565880" y="2203560"/>
            <a:ext cx="30567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21295c"/>
                </a:solidFill>
                <a:effectLst/>
                <a:uFillTx/>
                <a:latin typeface="Cambria"/>
                <a:ea typeface="Cambria"/>
              </a:rPr>
              <a:t>ESRS / CSRD</a:t>
            </a:r>
            <a:endParaRPr lang="en-GB" sz="1600" b="0" u="none" strike="noStrike">
              <a:solidFill>
                <a:srgbClr val="000000"/>
              </a:solidFill>
              <a:effectLst/>
              <a:uFillTx/>
              <a:latin typeface="Arial"/>
            </a:endParaRPr>
          </a:p>
        </p:txBody>
      </p:sp>
      <p:sp>
        <p:nvSpPr>
          <p:cNvPr id="258" name="Text 8"/>
          <p:cNvSpPr/>
          <p:nvPr/>
        </p:nvSpPr>
        <p:spPr>
          <a:xfrm>
            <a:off x="4565880" y="2587680"/>
            <a:ext cx="3056760" cy="65808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Avrupa Sürdürülebilirlik Raporlama Standartları</a:t>
            </a:r>
            <a:endParaRPr lang="en-GB" sz="1050" b="0" u="none" strike="noStrike">
              <a:solidFill>
                <a:srgbClr val="000000"/>
              </a:solidFill>
              <a:effectLst/>
              <a:uFillTx/>
              <a:latin typeface="Arial"/>
            </a:endParaRPr>
          </a:p>
        </p:txBody>
      </p:sp>
      <p:sp>
        <p:nvSpPr>
          <p:cNvPr id="259" name="Shape 9"/>
          <p:cNvSpPr/>
          <p:nvPr/>
        </p:nvSpPr>
        <p:spPr>
          <a:xfrm>
            <a:off x="8125920" y="2057400"/>
            <a:ext cx="3513960" cy="1234080"/>
          </a:xfrm>
          <a:prstGeom prst="roundRect">
            <a:avLst>
              <a:gd name="adj" fmla="val 5926"/>
            </a:avLst>
          </a:prstGeom>
          <a:solidFill>
            <a:srgbClr val="eff5f8"/>
          </a:solidFill>
          <a:ln w="12700">
            <a:solidFill>
              <a:srgbClr val="e1e8ed"/>
            </a:solidFill>
            <a:round/>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60" name="Text 10"/>
          <p:cNvSpPr/>
          <p:nvPr/>
        </p:nvSpPr>
        <p:spPr>
          <a:xfrm>
            <a:off x="8354520" y="2203560"/>
            <a:ext cx="30567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21295c"/>
                </a:solidFill>
                <a:effectLst/>
                <a:uFillTx/>
                <a:latin typeface="Cambria"/>
                <a:ea typeface="Cambria"/>
              </a:rPr>
              <a:t>ISSB</a:t>
            </a:r>
            <a:endParaRPr lang="en-GB" sz="1600" b="0" u="none" strike="noStrike">
              <a:solidFill>
                <a:srgbClr val="000000"/>
              </a:solidFill>
              <a:effectLst/>
              <a:uFillTx/>
              <a:latin typeface="Arial"/>
            </a:endParaRPr>
          </a:p>
        </p:txBody>
      </p:sp>
      <p:sp>
        <p:nvSpPr>
          <p:cNvPr id="261" name="Text 11"/>
          <p:cNvSpPr/>
          <p:nvPr/>
        </p:nvSpPr>
        <p:spPr>
          <a:xfrm>
            <a:off x="8354520" y="2587680"/>
            <a:ext cx="3056760" cy="65808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IFRS S1 / IFRS S2</a:t>
            </a:r>
            <a:endParaRPr lang="en-GB" sz="1050" b="0" u="none" strike="noStrike">
              <a:solidFill>
                <a:srgbClr val="000000"/>
              </a:solidFill>
              <a:effectLst/>
              <a:uFillTx/>
              <a:latin typeface="Arial"/>
            </a:endParaRPr>
          </a:p>
        </p:txBody>
      </p:sp>
      <p:sp>
        <p:nvSpPr>
          <p:cNvPr id="262" name="Shape 12"/>
          <p:cNvSpPr/>
          <p:nvPr/>
        </p:nvSpPr>
        <p:spPr>
          <a:xfrm>
            <a:off x="548640" y="3566160"/>
            <a:ext cx="3513960" cy="1234080"/>
          </a:xfrm>
          <a:prstGeom prst="roundRect">
            <a:avLst>
              <a:gd name="adj" fmla="val 5926"/>
            </a:avLst>
          </a:prstGeom>
          <a:solidFill>
            <a:srgbClr val="065a82"/>
          </a:solidFill>
          <a:ln w="12700">
            <a:solidFill>
              <a:srgbClr val="065a82"/>
            </a:solidFill>
            <a:round/>
          </a:ln>
          <a:effectLst>
            <a:outerShdw algn="bl" blurRad="101520" dir="5400000" dist="38160" kx="0" ky="0" rotWithShape="0" sx="100000" sy="100000">
              <a:srgbClr val="1b2a3a">
                <a:alpha val="18000"/>
              </a:srgbClr>
            </a:outerShdw>
          </a:effectLst>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pic>
        <p:nvPicPr>
          <p:cNvPr id="263" name="Image 0" descr="icons/FaStar.png"/>
          <p:cNvPicPr/>
          <p:nvPr/>
        </p:nvPicPr>
        <p:blipFill>
          <a:blip r:embed="rId1"/>
          <a:stretch/>
        </p:blipFill>
        <p:spPr>
          <a:xfrm>
            <a:off x="3605760" y="3730680"/>
            <a:ext cx="273960" cy="273960"/>
          </a:xfrm>
          <a:prstGeom prst="rect">
            <a:avLst/>
          </a:prstGeom>
          <a:noFill/>
          <a:ln w="0">
            <a:noFill/>
          </a:ln>
        </p:spPr>
      </p:pic>
      <p:sp>
        <p:nvSpPr>
          <p:cNvPr id="264" name="Text 13"/>
          <p:cNvSpPr/>
          <p:nvPr/>
        </p:nvSpPr>
        <p:spPr>
          <a:xfrm>
            <a:off x="777240" y="3712320"/>
            <a:ext cx="30567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ffffff"/>
                </a:solidFill>
                <a:effectLst/>
                <a:uFillTx/>
                <a:latin typeface="Cambria"/>
                <a:ea typeface="Cambria"/>
              </a:rPr>
              <a:t>TSRS 1 &amp; 2</a:t>
            </a:r>
            <a:endParaRPr lang="en-GB" sz="1600" b="0" u="none" strike="noStrike">
              <a:solidFill>
                <a:srgbClr val="000000"/>
              </a:solidFill>
              <a:effectLst/>
              <a:uFillTx/>
              <a:latin typeface="Arial"/>
            </a:endParaRPr>
          </a:p>
        </p:txBody>
      </p:sp>
      <p:sp>
        <p:nvSpPr>
          <p:cNvPr id="265" name="Text 14"/>
          <p:cNvSpPr/>
          <p:nvPr/>
        </p:nvSpPr>
        <p:spPr>
          <a:xfrm>
            <a:off x="777240" y="4096440"/>
            <a:ext cx="3056760" cy="65808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cadcfc"/>
                </a:solidFill>
                <a:effectLst/>
                <a:uFillTx/>
                <a:latin typeface="Calibri"/>
                <a:ea typeface="Calibri"/>
              </a:rPr>
              <a:t>Türkiye Sürdürülebilirlik Raporlama Standartları</a:t>
            </a:r>
            <a:endParaRPr lang="en-GB" sz="1050" b="0" u="none" strike="noStrike">
              <a:solidFill>
                <a:srgbClr val="000000"/>
              </a:solidFill>
              <a:effectLst/>
              <a:uFillTx/>
              <a:latin typeface="Arial"/>
            </a:endParaRPr>
          </a:p>
        </p:txBody>
      </p:sp>
      <p:sp>
        <p:nvSpPr>
          <p:cNvPr id="266" name="Shape 15"/>
          <p:cNvSpPr/>
          <p:nvPr/>
        </p:nvSpPr>
        <p:spPr>
          <a:xfrm>
            <a:off x="4337280" y="3566160"/>
            <a:ext cx="3513960" cy="1234080"/>
          </a:xfrm>
          <a:prstGeom prst="roundRect">
            <a:avLst>
              <a:gd name="adj" fmla="val 5926"/>
            </a:avLst>
          </a:prstGeom>
          <a:solidFill>
            <a:srgbClr val="eff5f8"/>
          </a:solidFill>
          <a:ln w="12700">
            <a:solidFill>
              <a:srgbClr val="e1e8ed"/>
            </a:solidFill>
            <a:round/>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67" name="Text 16"/>
          <p:cNvSpPr/>
          <p:nvPr/>
        </p:nvSpPr>
        <p:spPr>
          <a:xfrm>
            <a:off x="4565880" y="3712320"/>
            <a:ext cx="30567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21295c"/>
                </a:solidFill>
                <a:effectLst/>
                <a:uFillTx/>
                <a:latin typeface="Cambria"/>
                <a:ea typeface="Cambria"/>
              </a:rPr>
              <a:t>TCFD</a:t>
            </a:r>
            <a:endParaRPr lang="en-GB" sz="1600" b="0" u="none" strike="noStrike">
              <a:solidFill>
                <a:srgbClr val="000000"/>
              </a:solidFill>
              <a:effectLst/>
              <a:uFillTx/>
              <a:latin typeface="Arial"/>
            </a:endParaRPr>
          </a:p>
        </p:txBody>
      </p:sp>
      <p:sp>
        <p:nvSpPr>
          <p:cNvPr id="268" name="Text 17"/>
          <p:cNvSpPr/>
          <p:nvPr/>
        </p:nvSpPr>
        <p:spPr>
          <a:xfrm>
            <a:off x="4565880" y="4096440"/>
            <a:ext cx="3056760" cy="65808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İklimle Bağlantılı Finansal Beyanlar</a:t>
            </a:r>
            <a:endParaRPr lang="en-GB" sz="1050" b="0" u="none" strike="noStrike">
              <a:solidFill>
                <a:srgbClr val="000000"/>
              </a:solidFill>
              <a:effectLst/>
              <a:uFillTx/>
              <a:latin typeface="Arial"/>
            </a:endParaRPr>
          </a:p>
        </p:txBody>
      </p:sp>
      <p:sp>
        <p:nvSpPr>
          <p:cNvPr id="269" name="Shape 18"/>
          <p:cNvSpPr/>
          <p:nvPr/>
        </p:nvSpPr>
        <p:spPr>
          <a:xfrm>
            <a:off x="8125920" y="3566160"/>
            <a:ext cx="3513960" cy="1234080"/>
          </a:xfrm>
          <a:prstGeom prst="roundRect">
            <a:avLst>
              <a:gd name="adj" fmla="val 5926"/>
            </a:avLst>
          </a:prstGeom>
          <a:solidFill>
            <a:srgbClr val="eff5f8"/>
          </a:solidFill>
          <a:ln w="12700">
            <a:solidFill>
              <a:srgbClr val="e1e8ed"/>
            </a:solidFill>
            <a:round/>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70" name="Text 19"/>
          <p:cNvSpPr/>
          <p:nvPr/>
        </p:nvSpPr>
        <p:spPr>
          <a:xfrm>
            <a:off x="8354520" y="3712320"/>
            <a:ext cx="30567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21295c"/>
                </a:solidFill>
                <a:effectLst/>
                <a:uFillTx/>
                <a:latin typeface="Cambria"/>
                <a:ea typeface="Cambria"/>
              </a:rPr>
              <a:t>SASB</a:t>
            </a:r>
            <a:endParaRPr lang="en-GB" sz="1600" b="0" u="none" strike="noStrike">
              <a:solidFill>
                <a:srgbClr val="000000"/>
              </a:solidFill>
              <a:effectLst/>
              <a:uFillTx/>
              <a:latin typeface="Arial"/>
            </a:endParaRPr>
          </a:p>
        </p:txBody>
      </p:sp>
      <p:sp>
        <p:nvSpPr>
          <p:cNvPr id="271" name="Text 20"/>
          <p:cNvSpPr/>
          <p:nvPr/>
        </p:nvSpPr>
        <p:spPr>
          <a:xfrm>
            <a:off x="8354520" y="4096440"/>
            <a:ext cx="3056760" cy="65808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Sektör Bazlı Standartlar</a:t>
            </a:r>
            <a:endParaRPr lang="en-GB" sz="1050" b="0" u="none" strike="noStrike">
              <a:solidFill>
                <a:srgbClr val="000000"/>
              </a:solidFill>
              <a:effectLst/>
              <a:uFillTx/>
              <a:latin typeface="Arial"/>
            </a:endParaRPr>
          </a:p>
        </p:txBody>
      </p:sp>
      <p:sp>
        <p:nvSpPr>
          <p:cNvPr id="272" name="Shape 21"/>
          <p:cNvSpPr/>
          <p:nvPr/>
        </p:nvSpPr>
        <p:spPr>
          <a:xfrm>
            <a:off x="548640" y="5074920"/>
            <a:ext cx="3513960" cy="1234080"/>
          </a:xfrm>
          <a:prstGeom prst="roundRect">
            <a:avLst>
              <a:gd name="adj" fmla="val 5926"/>
            </a:avLst>
          </a:prstGeom>
          <a:solidFill>
            <a:srgbClr val="eff5f8"/>
          </a:solidFill>
          <a:ln w="12700">
            <a:solidFill>
              <a:srgbClr val="e1e8ed"/>
            </a:solidFill>
            <a:round/>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73" name="Text 22"/>
          <p:cNvSpPr/>
          <p:nvPr/>
        </p:nvSpPr>
        <p:spPr>
          <a:xfrm>
            <a:off x="777240" y="5221080"/>
            <a:ext cx="30567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21295c"/>
                </a:solidFill>
                <a:effectLst/>
                <a:uFillTx/>
                <a:latin typeface="Cambria"/>
                <a:ea typeface="Cambria"/>
              </a:rPr>
              <a:t>CDP</a:t>
            </a:r>
            <a:endParaRPr lang="en-GB" sz="1600" b="0" u="none" strike="noStrike">
              <a:solidFill>
                <a:srgbClr val="000000"/>
              </a:solidFill>
              <a:effectLst/>
              <a:uFillTx/>
              <a:latin typeface="Arial"/>
            </a:endParaRPr>
          </a:p>
        </p:txBody>
      </p:sp>
      <p:sp>
        <p:nvSpPr>
          <p:cNvPr id="274" name="Text 23"/>
          <p:cNvSpPr/>
          <p:nvPr/>
        </p:nvSpPr>
        <p:spPr>
          <a:xfrm>
            <a:off x="777240" y="5605200"/>
            <a:ext cx="3056760" cy="65808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İklim ve Çevresel Şeffaflık</a:t>
            </a:r>
            <a:endParaRPr lang="en-GB" sz="1050" b="0" u="none" strike="noStrike">
              <a:solidFill>
                <a:srgbClr val="000000"/>
              </a:solidFill>
              <a:effectLst/>
              <a:uFillTx/>
              <a:latin typeface="Arial"/>
            </a:endParaRPr>
          </a:p>
        </p:txBody>
      </p:sp>
      <p:sp>
        <p:nvSpPr>
          <p:cNvPr id="275" name="Shape 24"/>
          <p:cNvSpPr/>
          <p:nvPr/>
        </p:nvSpPr>
        <p:spPr>
          <a:xfrm>
            <a:off x="4337280" y="5074920"/>
            <a:ext cx="3513960" cy="1234080"/>
          </a:xfrm>
          <a:prstGeom prst="roundRect">
            <a:avLst>
              <a:gd name="adj" fmla="val 5926"/>
            </a:avLst>
          </a:prstGeom>
          <a:solidFill>
            <a:srgbClr val="eff5f8"/>
          </a:solidFill>
          <a:ln w="12700">
            <a:solidFill>
              <a:srgbClr val="e1e8ed"/>
            </a:solidFill>
            <a:round/>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76" name="Text 25"/>
          <p:cNvSpPr/>
          <p:nvPr/>
        </p:nvSpPr>
        <p:spPr>
          <a:xfrm>
            <a:off x="4565880" y="5221080"/>
            <a:ext cx="30567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21295c"/>
                </a:solidFill>
                <a:effectLst/>
                <a:uFillTx/>
                <a:latin typeface="Cambria"/>
                <a:ea typeface="Cambria"/>
              </a:rPr>
              <a:t>GFANZ</a:t>
            </a:r>
            <a:endParaRPr lang="en-GB" sz="1600" b="0" u="none" strike="noStrike">
              <a:solidFill>
                <a:srgbClr val="000000"/>
              </a:solidFill>
              <a:effectLst/>
              <a:uFillTx/>
              <a:latin typeface="Arial"/>
            </a:endParaRPr>
          </a:p>
        </p:txBody>
      </p:sp>
      <p:sp>
        <p:nvSpPr>
          <p:cNvPr id="277" name="Text 26"/>
          <p:cNvSpPr/>
          <p:nvPr/>
        </p:nvSpPr>
        <p:spPr>
          <a:xfrm>
            <a:off x="4565880" y="5605200"/>
            <a:ext cx="3056760" cy="65808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İklim Geçiş Yol Haritaları</a:t>
            </a:r>
            <a:endParaRPr lang="en-GB" sz="1050" b="0" u="none" strike="noStrike">
              <a:solidFill>
                <a:srgbClr val="000000"/>
              </a:solidFill>
              <a:effectLst/>
              <a:uFillTx/>
              <a:latin typeface="Arial"/>
            </a:endParaRPr>
          </a:p>
        </p:txBody>
      </p:sp>
      <p:sp>
        <p:nvSpPr>
          <p:cNvPr id="278" name="Shape 27"/>
          <p:cNvSpPr/>
          <p:nvPr/>
        </p:nvSpPr>
        <p:spPr>
          <a:xfrm>
            <a:off x="8125920" y="5074920"/>
            <a:ext cx="3513960" cy="1234080"/>
          </a:xfrm>
          <a:prstGeom prst="roundRect">
            <a:avLst>
              <a:gd name="adj" fmla="val 5926"/>
            </a:avLst>
          </a:prstGeom>
          <a:solidFill>
            <a:srgbClr val="eff5f8"/>
          </a:solidFill>
          <a:ln w="12700">
            <a:solidFill>
              <a:srgbClr val="e1e8ed"/>
            </a:solidFill>
            <a:round/>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79" name="Text 28"/>
          <p:cNvSpPr/>
          <p:nvPr/>
        </p:nvSpPr>
        <p:spPr>
          <a:xfrm>
            <a:off x="8354520" y="5221080"/>
            <a:ext cx="30567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21295c"/>
                </a:solidFill>
                <a:effectLst/>
                <a:uFillTx/>
                <a:latin typeface="Cambria"/>
                <a:ea typeface="Cambria"/>
              </a:rPr>
              <a:t>NACE</a:t>
            </a:r>
            <a:endParaRPr lang="en-GB" sz="1600" b="0" u="none" strike="noStrike">
              <a:solidFill>
                <a:srgbClr val="000000"/>
              </a:solidFill>
              <a:effectLst/>
              <a:uFillTx/>
              <a:latin typeface="Arial"/>
            </a:endParaRPr>
          </a:p>
        </p:txBody>
      </p:sp>
      <p:sp>
        <p:nvSpPr>
          <p:cNvPr id="280" name="Text 29"/>
          <p:cNvSpPr/>
          <p:nvPr/>
        </p:nvSpPr>
        <p:spPr>
          <a:xfrm>
            <a:off x="8354520" y="5605200"/>
            <a:ext cx="3056760" cy="658080"/>
          </a:xfrm>
          <a:prstGeom prst="rect">
            <a:avLst/>
          </a:prstGeom>
          <a:noFill/>
          <a:ln w="0">
            <a:noFill/>
          </a:ln>
        </p:spPr>
        <p:style>
          <a:lnRef idx="0"/>
          <a:fillRef idx="0"/>
          <a:effectRef idx="0"/>
          <a:fontRef idx="minor"/>
        </p:style>
        <p:txBody>
          <a:bodyPr lIns="0" rIns="0" tIns="0" bIns="0" anchor="ctr">
            <a:noAutofit/>
          </a:bodyPr>
          <a:p>
            <a:pPr defTabSz="914400">
              <a:lnSpc>
                <a:spcPts val="1301"/>
              </a:lnSpc>
              <a:tabLst>
                <a:tab algn="l" pos="0"/>
              </a:tabLst>
            </a:pPr>
            <a:r>
              <a:rPr lang="en-US" sz="1050" b="0" u="none" strike="noStrike">
                <a:solidFill>
                  <a:srgbClr val="5a6b78"/>
                </a:solidFill>
                <a:effectLst/>
                <a:uFillTx/>
                <a:latin typeface="Calibri"/>
                <a:ea typeface="Calibri"/>
              </a:rPr>
              <a:t>Faaliyet Kodu Sınıflandırması</a:t>
            </a:r>
            <a:endParaRPr lang="en-GB" sz="1050" b="0" u="none" strike="noStrike">
              <a:solidFill>
                <a:srgbClr val="000000"/>
              </a:solidFill>
              <a:effectLst/>
              <a:uFillTx/>
              <a:latin typeface="Arial"/>
            </a:endParaRPr>
          </a:p>
        </p:txBody>
      </p:sp>
      <p:sp>
        <p:nvSpPr>
          <p:cNvPr id="281" name="Text 30"/>
          <p:cNvSpPr/>
          <p:nvPr/>
        </p:nvSpPr>
        <p:spPr>
          <a:xfrm>
            <a:off x="548640" y="6172200"/>
            <a:ext cx="110638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i="1" u="none" strike="noStrike">
                <a:solidFill>
                  <a:srgbClr val="1c7293"/>
                </a:solidFill>
                <a:effectLst/>
                <a:uFillTx/>
                <a:latin typeface="Calibri"/>
                <a:ea typeface="Calibri"/>
              </a:rPr>
              <a:t>★ TSRS 1 ve 2 doğrudan uyum motoruna işlenmiştir — yerel mevzuata hazır, öne çıkan bir yerli güç.</a:t>
            </a:r>
            <a:endParaRPr lang="en-GB"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2" name="Text 0"/>
          <p:cNvSpPr/>
          <p:nvPr/>
        </p:nvSpPr>
        <p:spPr>
          <a:xfrm>
            <a:off x="548640" y="164520"/>
            <a:ext cx="91436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pc="201" strike="noStrike">
                <a:solidFill>
                  <a:srgbClr val="1c7293"/>
                </a:solidFill>
                <a:effectLst/>
                <a:uFillTx/>
                <a:latin typeface="Calibri"/>
                <a:ea typeface="Calibri"/>
              </a:rPr>
              <a:t>NEDEN GOVERNANCEIQ</a:t>
            </a:r>
            <a:endParaRPr lang="en-GB" sz="1200" b="0" u="none" strike="noStrike">
              <a:solidFill>
                <a:srgbClr val="000000"/>
              </a:solidFill>
              <a:effectLst/>
              <a:uFillTx/>
              <a:latin typeface="Arial"/>
            </a:endParaRPr>
          </a:p>
        </p:txBody>
      </p:sp>
      <p:sp>
        <p:nvSpPr>
          <p:cNvPr id="283" name="Text 1"/>
          <p:cNvSpPr/>
          <p:nvPr/>
        </p:nvSpPr>
        <p:spPr>
          <a:xfrm>
            <a:off x="548640" y="41148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200" b="1" u="none" strike="noStrike">
                <a:solidFill>
                  <a:srgbClr val="21295c"/>
                </a:solidFill>
                <a:effectLst/>
                <a:uFillTx/>
                <a:latin typeface="Cambria"/>
                <a:ea typeface="Cambria"/>
              </a:rPr>
              <a:t>Farklılaştırıcılarımız</a:t>
            </a:r>
            <a:endParaRPr lang="en-GB" sz="3200" b="0" u="none" strike="noStrike">
              <a:solidFill>
                <a:srgbClr val="000000"/>
              </a:solidFill>
              <a:effectLst/>
              <a:uFillTx/>
              <a:latin typeface="Arial"/>
            </a:endParaRPr>
          </a:p>
        </p:txBody>
      </p:sp>
      <p:sp>
        <p:nvSpPr>
          <p:cNvPr id="284" name="Shape 2"/>
          <p:cNvSpPr/>
          <p:nvPr/>
        </p:nvSpPr>
        <p:spPr>
          <a:xfrm>
            <a:off x="548640" y="1508760"/>
            <a:ext cx="502560" cy="502560"/>
          </a:xfrm>
          <a:prstGeom prst="ellipse">
            <a:avLst/>
          </a:prstGeom>
          <a:solidFill>
            <a:srgbClr val="e0983e"/>
          </a:solidFill>
          <a:ln w="0">
            <a:noFill/>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85" name="Text 3"/>
          <p:cNvSpPr/>
          <p:nvPr/>
        </p:nvSpPr>
        <p:spPr>
          <a:xfrm>
            <a:off x="548640" y="150876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600" b="1" u="none" strike="noStrike">
                <a:solidFill>
                  <a:srgbClr val="21295c"/>
                </a:solidFill>
                <a:effectLst/>
                <a:uFillTx/>
                <a:latin typeface="Cambria"/>
                <a:ea typeface="Cambria"/>
              </a:rPr>
              <a:t>1</a:t>
            </a:r>
            <a:endParaRPr lang="en-GB" sz="1600" b="0" u="none" strike="noStrike">
              <a:solidFill>
                <a:srgbClr val="000000"/>
              </a:solidFill>
              <a:effectLst/>
              <a:uFillTx/>
              <a:latin typeface="Arial"/>
            </a:endParaRPr>
          </a:p>
        </p:txBody>
      </p:sp>
      <p:sp>
        <p:nvSpPr>
          <p:cNvPr id="286" name="Text 4"/>
          <p:cNvSpPr/>
          <p:nvPr/>
        </p:nvSpPr>
        <p:spPr>
          <a:xfrm>
            <a:off x="1234440" y="1463040"/>
            <a:ext cx="46630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50" b="1" u="none" strike="noStrike">
                <a:solidFill>
                  <a:srgbClr val="21295c"/>
                </a:solidFill>
                <a:effectLst/>
                <a:uFillTx/>
                <a:latin typeface="Cambria"/>
                <a:ea typeface="Cambria"/>
              </a:rPr>
              <a:t>Danışmanlık İçin Tasarlandı</a:t>
            </a:r>
            <a:endParaRPr lang="en-GB" sz="1450" b="0" u="none" strike="noStrike">
              <a:solidFill>
                <a:srgbClr val="000000"/>
              </a:solidFill>
              <a:effectLst/>
              <a:uFillTx/>
              <a:latin typeface="Arial"/>
            </a:endParaRPr>
          </a:p>
        </p:txBody>
      </p:sp>
      <p:sp>
        <p:nvSpPr>
          <p:cNvPr id="287" name="Text 5"/>
          <p:cNvSpPr/>
          <p:nvPr/>
        </p:nvSpPr>
        <p:spPr>
          <a:xfrm>
            <a:off x="1234440" y="1847160"/>
            <a:ext cx="4663080" cy="776880"/>
          </a:xfrm>
          <a:prstGeom prst="rect">
            <a:avLst/>
          </a:prstGeom>
          <a:noFill/>
          <a:ln w="0">
            <a:noFill/>
          </a:ln>
        </p:spPr>
        <p:style>
          <a:lnRef idx="0"/>
          <a:fillRef idx="0"/>
          <a:effectRef idx="0"/>
          <a:fontRef idx="minor"/>
        </p:style>
        <p:txBody>
          <a:bodyPr lIns="0" rIns="0" tIns="0" bIns="0" anchor="ctr">
            <a:noAutofit/>
          </a:bodyPr>
          <a:p>
            <a:pPr defTabSz="914400">
              <a:lnSpc>
                <a:spcPts val="1500"/>
              </a:lnSpc>
              <a:tabLst>
                <a:tab algn="l" pos="0"/>
              </a:tabLst>
            </a:pPr>
            <a:r>
              <a:rPr lang="en-US" sz="1150" b="0" u="none" strike="noStrike">
                <a:solidFill>
                  <a:srgbClr val="5a6b78"/>
                </a:solidFill>
                <a:effectLst/>
                <a:uFillTx/>
                <a:latin typeface="Calibri"/>
                <a:ea typeface="Calibri"/>
              </a:rPr>
              <a:t>Tek kuruma değil, çok müşterili bir portföye göre kurgulandı.</a:t>
            </a:r>
            <a:endParaRPr lang="en-GB" sz="1150" b="0" u="none" strike="noStrike">
              <a:solidFill>
                <a:srgbClr val="000000"/>
              </a:solidFill>
              <a:effectLst/>
              <a:uFillTx/>
              <a:latin typeface="Arial"/>
            </a:endParaRPr>
          </a:p>
        </p:txBody>
      </p:sp>
      <p:sp>
        <p:nvSpPr>
          <p:cNvPr id="288" name="Shape 6"/>
          <p:cNvSpPr/>
          <p:nvPr/>
        </p:nvSpPr>
        <p:spPr>
          <a:xfrm>
            <a:off x="548640" y="2926080"/>
            <a:ext cx="502560" cy="502560"/>
          </a:xfrm>
          <a:prstGeom prst="ellipse">
            <a:avLst/>
          </a:prstGeom>
          <a:solidFill>
            <a:srgbClr val="e0983e"/>
          </a:solidFill>
          <a:ln w="0">
            <a:noFill/>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89" name="Text 7"/>
          <p:cNvSpPr/>
          <p:nvPr/>
        </p:nvSpPr>
        <p:spPr>
          <a:xfrm>
            <a:off x="548640" y="292608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600" b="1" u="none" strike="noStrike">
                <a:solidFill>
                  <a:srgbClr val="21295c"/>
                </a:solidFill>
                <a:effectLst/>
                <a:uFillTx/>
                <a:latin typeface="Cambria"/>
                <a:ea typeface="Cambria"/>
              </a:rPr>
              <a:t>2</a:t>
            </a:r>
            <a:endParaRPr lang="en-GB" sz="1600" b="0" u="none" strike="noStrike">
              <a:solidFill>
                <a:srgbClr val="000000"/>
              </a:solidFill>
              <a:effectLst/>
              <a:uFillTx/>
              <a:latin typeface="Arial"/>
            </a:endParaRPr>
          </a:p>
        </p:txBody>
      </p:sp>
      <p:sp>
        <p:nvSpPr>
          <p:cNvPr id="290" name="Text 8"/>
          <p:cNvSpPr/>
          <p:nvPr/>
        </p:nvSpPr>
        <p:spPr>
          <a:xfrm>
            <a:off x="1234440" y="2880360"/>
            <a:ext cx="46630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50" b="1" u="none" strike="noStrike">
                <a:solidFill>
                  <a:srgbClr val="21295c"/>
                </a:solidFill>
                <a:effectLst/>
                <a:uFillTx/>
                <a:latin typeface="Cambria"/>
                <a:ea typeface="Cambria"/>
              </a:rPr>
              <a:t>Türkiye Gücü (TSRS)</a:t>
            </a:r>
            <a:endParaRPr lang="en-GB" sz="1450" b="0" u="none" strike="noStrike">
              <a:solidFill>
                <a:srgbClr val="000000"/>
              </a:solidFill>
              <a:effectLst/>
              <a:uFillTx/>
              <a:latin typeface="Arial"/>
            </a:endParaRPr>
          </a:p>
        </p:txBody>
      </p:sp>
      <p:sp>
        <p:nvSpPr>
          <p:cNvPr id="291" name="Text 9"/>
          <p:cNvSpPr/>
          <p:nvPr/>
        </p:nvSpPr>
        <p:spPr>
          <a:xfrm>
            <a:off x="1234440" y="3264480"/>
            <a:ext cx="4663080" cy="776880"/>
          </a:xfrm>
          <a:prstGeom prst="rect">
            <a:avLst/>
          </a:prstGeom>
          <a:noFill/>
          <a:ln w="0">
            <a:noFill/>
          </a:ln>
        </p:spPr>
        <p:style>
          <a:lnRef idx="0"/>
          <a:fillRef idx="0"/>
          <a:effectRef idx="0"/>
          <a:fontRef idx="minor"/>
        </p:style>
        <p:txBody>
          <a:bodyPr lIns="0" rIns="0" tIns="0" bIns="0" anchor="ctr">
            <a:noAutofit/>
          </a:bodyPr>
          <a:p>
            <a:pPr defTabSz="914400">
              <a:lnSpc>
                <a:spcPts val="1500"/>
              </a:lnSpc>
              <a:tabLst>
                <a:tab algn="l" pos="0"/>
              </a:tabLst>
            </a:pPr>
            <a:r>
              <a:rPr lang="en-US" sz="1150" b="0" u="none" strike="noStrike">
                <a:solidFill>
                  <a:srgbClr val="5a6b78"/>
                </a:solidFill>
                <a:effectLst/>
                <a:uFillTx/>
                <a:latin typeface="Calibri"/>
                <a:ea typeface="Calibri"/>
              </a:rPr>
              <a:t>TSRS 1 ve 2'yi doğrudan uyum motoruna işleyen az sayıda platformdan biri.</a:t>
            </a:r>
            <a:endParaRPr lang="en-GB" sz="1150" b="0" u="none" strike="noStrike">
              <a:solidFill>
                <a:srgbClr val="000000"/>
              </a:solidFill>
              <a:effectLst/>
              <a:uFillTx/>
              <a:latin typeface="Arial"/>
            </a:endParaRPr>
          </a:p>
        </p:txBody>
      </p:sp>
      <p:sp>
        <p:nvSpPr>
          <p:cNvPr id="292" name="Shape 10"/>
          <p:cNvSpPr/>
          <p:nvPr/>
        </p:nvSpPr>
        <p:spPr>
          <a:xfrm>
            <a:off x="548640" y="4343400"/>
            <a:ext cx="502560" cy="502560"/>
          </a:xfrm>
          <a:prstGeom prst="ellipse">
            <a:avLst/>
          </a:prstGeom>
          <a:solidFill>
            <a:srgbClr val="e0983e"/>
          </a:solidFill>
          <a:ln w="0">
            <a:noFill/>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93" name="Text 11"/>
          <p:cNvSpPr/>
          <p:nvPr/>
        </p:nvSpPr>
        <p:spPr>
          <a:xfrm>
            <a:off x="548640" y="434340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600" b="1" u="none" strike="noStrike">
                <a:solidFill>
                  <a:srgbClr val="21295c"/>
                </a:solidFill>
                <a:effectLst/>
                <a:uFillTx/>
                <a:latin typeface="Cambria"/>
                <a:ea typeface="Cambria"/>
              </a:rPr>
              <a:t>3</a:t>
            </a:r>
            <a:endParaRPr lang="en-GB" sz="1600" b="0" u="none" strike="noStrike">
              <a:solidFill>
                <a:srgbClr val="000000"/>
              </a:solidFill>
              <a:effectLst/>
              <a:uFillTx/>
              <a:latin typeface="Arial"/>
            </a:endParaRPr>
          </a:p>
        </p:txBody>
      </p:sp>
      <p:sp>
        <p:nvSpPr>
          <p:cNvPr id="294" name="Text 12"/>
          <p:cNvSpPr/>
          <p:nvPr/>
        </p:nvSpPr>
        <p:spPr>
          <a:xfrm>
            <a:off x="1234440" y="4297680"/>
            <a:ext cx="46630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50" b="1" u="none" strike="noStrike">
                <a:solidFill>
                  <a:srgbClr val="21295c"/>
                </a:solidFill>
                <a:effectLst/>
                <a:uFillTx/>
                <a:latin typeface="Cambria"/>
                <a:ea typeface="Cambria"/>
              </a:rPr>
              <a:t>Canlı Paydaş Anketleri</a:t>
            </a:r>
            <a:endParaRPr lang="en-GB" sz="1450" b="0" u="none" strike="noStrike">
              <a:solidFill>
                <a:srgbClr val="000000"/>
              </a:solidFill>
              <a:effectLst/>
              <a:uFillTx/>
              <a:latin typeface="Arial"/>
            </a:endParaRPr>
          </a:p>
        </p:txBody>
      </p:sp>
      <p:sp>
        <p:nvSpPr>
          <p:cNvPr id="295" name="Text 13"/>
          <p:cNvSpPr/>
          <p:nvPr/>
        </p:nvSpPr>
        <p:spPr>
          <a:xfrm>
            <a:off x="1234440" y="4681800"/>
            <a:ext cx="4663080" cy="776880"/>
          </a:xfrm>
          <a:prstGeom prst="rect">
            <a:avLst/>
          </a:prstGeom>
          <a:noFill/>
          <a:ln w="0">
            <a:noFill/>
          </a:ln>
        </p:spPr>
        <p:style>
          <a:lnRef idx="0"/>
          <a:fillRef idx="0"/>
          <a:effectRef idx="0"/>
          <a:fontRef idx="minor"/>
        </p:style>
        <p:txBody>
          <a:bodyPr lIns="0" rIns="0" tIns="0" bIns="0" anchor="ctr">
            <a:noAutofit/>
          </a:bodyPr>
          <a:p>
            <a:pPr defTabSz="914400">
              <a:lnSpc>
                <a:spcPts val="1500"/>
              </a:lnSpc>
              <a:tabLst>
                <a:tab algn="l" pos="0"/>
              </a:tabLst>
            </a:pPr>
            <a:r>
              <a:rPr lang="en-US" sz="1150" b="0" u="none" strike="noStrike">
                <a:solidFill>
                  <a:srgbClr val="5a6b78"/>
                </a:solidFill>
                <a:effectLst/>
                <a:uFillTx/>
                <a:latin typeface="Calibri"/>
                <a:ea typeface="Calibri"/>
              </a:rPr>
              <a:t>Çifte önemliliği paydaş katılımıyla, ağırlıklı ve gerçek zamanlı üretir.</a:t>
            </a:r>
            <a:endParaRPr lang="en-GB" sz="1150" b="0" u="none" strike="noStrike">
              <a:solidFill>
                <a:srgbClr val="000000"/>
              </a:solidFill>
              <a:effectLst/>
              <a:uFillTx/>
              <a:latin typeface="Arial"/>
            </a:endParaRPr>
          </a:p>
        </p:txBody>
      </p:sp>
      <p:sp>
        <p:nvSpPr>
          <p:cNvPr id="296" name="Shape 14"/>
          <p:cNvSpPr/>
          <p:nvPr/>
        </p:nvSpPr>
        <p:spPr>
          <a:xfrm>
            <a:off x="548640" y="5760720"/>
            <a:ext cx="502560" cy="502560"/>
          </a:xfrm>
          <a:prstGeom prst="ellipse">
            <a:avLst/>
          </a:prstGeom>
          <a:solidFill>
            <a:srgbClr val="e0983e"/>
          </a:solidFill>
          <a:ln w="0">
            <a:noFill/>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297" name="Text 15"/>
          <p:cNvSpPr/>
          <p:nvPr/>
        </p:nvSpPr>
        <p:spPr>
          <a:xfrm>
            <a:off x="548640" y="576072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600" b="1" u="none" strike="noStrike">
                <a:solidFill>
                  <a:srgbClr val="21295c"/>
                </a:solidFill>
                <a:effectLst/>
                <a:uFillTx/>
                <a:latin typeface="Cambria"/>
                <a:ea typeface="Cambria"/>
              </a:rPr>
              <a:t>4</a:t>
            </a:r>
            <a:endParaRPr lang="en-GB" sz="1600" b="0" u="none" strike="noStrike">
              <a:solidFill>
                <a:srgbClr val="000000"/>
              </a:solidFill>
              <a:effectLst/>
              <a:uFillTx/>
              <a:latin typeface="Arial"/>
            </a:endParaRPr>
          </a:p>
        </p:txBody>
      </p:sp>
      <p:sp>
        <p:nvSpPr>
          <p:cNvPr id="298" name="Text 16"/>
          <p:cNvSpPr/>
          <p:nvPr/>
        </p:nvSpPr>
        <p:spPr>
          <a:xfrm>
            <a:off x="1234440" y="5715000"/>
            <a:ext cx="46630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50" b="1" u="none" strike="noStrike">
                <a:solidFill>
                  <a:srgbClr val="21295c"/>
                </a:solidFill>
                <a:effectLst/>
                <a:uFillTx/>
                <a:latin typeface="Cambria"/>
                <a:ea typeface="Cambria"/>
              </a:rPr>
              <a:t>İş Akışının İçinde Yapay Zeka</a:t>
            </a:r>
            <a:endParaRPr lang="en-GB" sz="1450" b="0" u="none" strike="noStrike">
              <a:solidFill>
                <a:srgbClr val="000000"/>
              </a:solidFill>
              <a:effectLst/>
              <a:uFillTx/>
              <a:latin typeface="Arial"/>
            </a:endParaRPr>
          </a:p>
        </p:txBody>
      </p:sp>
      <p:sp>
        <p:nvSpPr>
          <p:cNvPr id="299" name="Text 17"/>
          <p:cNvSpPr/>
          <p:nvPr/>
        </p:nvSpPr>
        <p:spPr>
          <a:xfrm>
            <a:off x="1234440" y="6099120"/>
            <a:ext cx="4663080" cy="776880"/>
          </a:xfrm>
          <a:prstGeom prst="rect">
            <a:avLst/>
          </a:prstGeom>
          <a:noFill/>
          <a:ln w="0">
            <a:noFill/>
          </a:ln>
        </p:spPr>
        <p:style>
          <a:lnRef idx="0"/>
          <a:fillRef idx="0"/>
          <a:effectRef idx="0"/>
          <a:fontRef idx="minor"/>
        </p:style>
        <p:txBody>
          <a:bodyPr lIns="0" rIns="0" tIns="0" bIns="0" anchor="ctr">
            <a:noAutofit/>
          </a:bodyPr>
          <a:p>
            <a:pPr defTabSz="914400">
              <a:lnSpc>
                <a:spcPts val="1500"/>
              </a:lnSpc>
              <a:tabLst>
                <a:tab algn="l" pos="0"/>
              </a:tabLst>
            </a:pPr>
            <a:r>
              <a:rPr lang="en-US" sz="1150" b="0" u="none" strike="noStrike">
                <a:solidFill>
                  <a:srgbClr val="5a6b78"/>
                </a:solidFill>
                <a:effectLst/>
                <a:uFillTx/>
                <a:latin typeface="Calibri"/>
                <a:ea typeface="Calibri"/>
              </a:rPr>
              <a:t>Yanıt önerileri doğrudan görev ekranında sunulur.</a:t>
            </a:r>
            <a:endParaRPr lang="en-GB" sz="1150" b="0" u="none" strike="noStrike">
              <a:solidFill>
                <a:srgbClr val="000000"/>
              </a:solidFill>
              <a:effectLst/>
              <a:uFillTx/>
              <a:latin typeface="Arial"/>
            </a:endParaRPr>
          </a:p>
        </p:txBody>
      </p:sp>
      <p:sp>
        <p:nvSpPr>
          <p:cNvPr id="300" name="Shape 18"/>
          <p:cNvSpPr/>
          <p:nvPr/>
        </p:nvSpPr>
        <p:spPr>
          <a:xfrm>
            <a:off x="6263640" y="1508760"/>
            <a:ext cx="502560" cy="502560"/>
          </a:xfrm>
          <a:prstGeom prst="ellipse">
            <a:avLst/>
          </a:prstGeom>
          <a:solidFill>
            <a:srgbClr val="e0983e"/>
          </a:solidFill>
          <a:ln w="0">
            <a:noFill/>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301" name="Text 19"/>
          <p:cNvSpPr/>
          <p:nvPr/>
        </p:nvSpPr>
        <p:spPr>
          <a:xfrm>
            <a:off x="6263640" y="150876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600" b="1" u="none" strike="noStrike">
                <a:solidFill>
                  <a:srgbClr val="21295c"/>
                </a:solidFill>
                <a:effectLst/>
                <a:uFillTx/>
                <a:latin typeface="Cambria"/>
                <a:ea typeface="Cambria"/>
              </a:rPr>
              <a:t>5</a:t>
            </a:r>
            <a:endParaRPr lang="en-GB" sz="1600" b="0" u="none" strike="noStrike">
              <a:solidFill>
                <a:srgbClr val="000000"/>
              </a:solidFill>
              <a:effectLst/>
              <a:uFillTx/>
              <a:latin typeface="Arial"/>
            </a:endParaRPr>
          </a:p>
        </p:txBody>
      </p:sp>
      <p:sp>
        <p:nvSpPr>
          <p:cNvPr id="302" name="Text 20"/>
          <p:cNvSpPr/>
          <p:nvPr/>
        </p:nvSpPr>
        <p:spPr>
          <a:xfrm>
            <a:off x="6949440" y="1463040"/>
            <a:ext cx="46630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50" b="1" u="none" strike="noStrike">
                <a:solidFill>
                  <a:srgbClr val="21295c"/>
                </a:solidFill>
                <a:effectLst/>
                <a:uFillTx/>
                <a:latin typeface="Cambria"/>
                <a:ea typeface="Cambria"/>
              </a:rPr>
              <a:t>Çerçeveler Arası Tutarlılık</a:t>
            </a:r>
            <a:endParaRPr lang="en-GB" sz="1450" b="0" u="none" strike="noStrike">
              <a:solidFill>
                <a:srgbClr val="000000"/>
              </a:solidFill>
              <a:effectLst/>
              <a:uFillTx/>
              <a:latin typeface="Arial"/>
            </a:endParaRPr>
          </a:p>
        </p:txBody>
      </p:sp>
      <p:sp>
        <p:nvSpPr>
          <p:cNvPr id="303" name="Text 21"/>
          <p:cNvSpPr/>
          <p:nvPr/>
        </p:nvSpPr>
        <p:spPr>
          <a:xfrm>
            <a:off x="6949440" y="1847160"/>
            <a:ext cx="4663080" cy="776880"/>
          </a:xfrm>
          <a:prstGeom prst="rect">
            <a:avLst/>
          </a:prstGeom>
          <a:noFill/>
          <a:ln w="0">
            <a:noFill/>
          </a:ln>
        </p:spPr>
        <p:style>
          <a:lnRef idx="0"/>
          <a:fillRef idx="0"/>
          <a:effectRef idx="0"/>
          <a:fontRef idx="minor"/>
        </p:style>
        <p:txBody>
          <a:bodyPr lIns="0" rIns="0" tIns="0" bIns="0" anchor="ctr">
            <a:noAutofit/>
          </a:bodyPr>
          <a:p>
            <a:pPr defTabSz="914400">
              <a:lnSpc>
                <a:spcPts val="1500"/>
              </a:lnSpc>
              <a:tabLst>
                <a:tab algn="l" pos="0"/>
              </a:tabLst>
            </a:pPr>
            <a:r>
              <a:rPr lang="en-US" sz="1150" b="0" u="none" strike="noStrike">
                <a:solidFill>
                  <a:srgbClr val="5a6b78"/>
                </a:solidFill>
                <a:effectLst/>
                <a:uFillTx/>
                <a:latin typeface="Calibri"/>
                <a:ea typeface="Calibri"/>
              </a:rPr>
              <a:t>Aynı metriği GRI/ESRS/TSRS/TCFD arasında karşılaştırır.</a:t>
            </a:r>
            <a:endParaRPr lang="en-GB" sz="1150" b="0" u="none" strike="noStrike">
              <a:solidFill>
                <a:srgbClr val="000000"/>
              </a:solidFill>
              <a:effectLst/>
              <a:uFillTx/>
              <a:latin typeface="Arial"/>
            </a:endParaRPr>
          </a:p>
        </p:txBody>
      </p:sp>
      <p:sp>
        <p:nvSpPr>
          <p:cNvPr id="304" name="Shape 22"/>
          <p:cNvSpPr/>
          <p:nvPr/>
        </p:nvSpPr>
        <p:spPr>
          <a:xfrm>
            <a:off x="6263640" y="2926080"/>
            <a:ext cx="502560" cy="502560"/>
          </a:xfrm>
          <a:prstGeom prst="ellipse">
            <a:avLst/>
          </a:prstGeom>
          <a:solidFill>
            <a:srgbClr val="e0983e"/>
          </a:solidFill>
          <a:ln w="0">
            <a:noFill/>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305" name="Text 23"/>
          <p:cNvSpPr/>
          <p:nvPr/>
        </p:nvSpPr>
        <p:spPr>
          <a:xfrm>
            <a:off x="6263640" y="292608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600" b="1" u="none" strike="noStrike">
                <a:solidFill>
                  <a:srgbClr val="21295c"/>
                </a:solidFill>
                <a:effectLst/>
                <a:uFillTx/>
                <a:latin typeface="Cambria"/>
                <a:ea typeface="Cambria"/>
              </a:rPr>
              <a:t>6</a:t>
            </a:r>
            <a:endParaRPr lang="en-GB" sz="1600" b="0" u="none" strike="noStrike">
              <a:solidFill>
                <a:srgbClr val="000000"/>
              </a:solidFill>
              <a:effectLst/>
              <a:uFillTx/>
              <a:latin typeface="Arial"/>
            </a:endParaRPr>
          </a:p>
        </p:txBody>
      </p:sp>
      <p:sp>
        <p:nvSpPr>
          <p:cNvPr id="306" name="Text 24"/>
          <p:cNvSpPr/>
          <p:nvPr/>
        </p:nvSpPr>
        <p:spPr>
          <a:xfrm>
            <a:off x="6949440" y="2880360"/>
            <a:ext cx="46630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50" b="1" u="none" strike="noStrike">
                <a:solidFill>
                  <a:srgbClr val="21295c"/>
                </a:solidFill>
                <a:effectLst/>
                <a:uFillTx/>
                <a:latin typeface="Cambria"/>
                <a:ea typeface="Cambria"/>
              </a:rPr>
              <a:t>Girişsiz Katılım</a:t>
            </a:r>
            <a:endParaRPr lang="en-GB" sz="1450" b="0" u="none" strike="noStrike">
              <a:solidFill>
                <a:srgbClr val="000000"/>
              </a:solidFill>
              <a:effectLst/>
              <a:uFillTx/>
              <a:latin typeface="Arial"/>
            </a:endParaRPr>
          </a:p>
        </p:txBody>
      </p:sp>
      <p:sp>
        <p:nvSpPr>
          <p:cNvPr id="307" name="Text 25"/>
          <p:cNvSpPr/>
          <p:nvPr/>
        </p:nvSpPr>
        <p:spPr>
          <a:xfrm>
            <a:off x="6949440" y="3264480"/>
            <a:ext cx="4663080" cy="776880"/>
          </a:xfrm>
          <a:prstGeom prst="rect">
            <a:avLst/>
          </a:prstGeom>
          <a:noFill/>
          <a:ln w="0">
            <a:noFill/>
          </a:ln>
        </p:spPr>
        <p:style>
          <a:lnRef idx="0"/>
          <a:fillRef idx="0"/>
          <a:effectRef idx="0"/>
          <a:fontRef idx="minor"/>
        </p:style>
        <p:txBody>
          <a:bodyPr lIns="0" rIns="0" tIns="0" bIns="0" anchor="ctr">
            <a:noAutofit/>
          </a:bodyPr>
          <a:p>
            <a:pPr defTabSz="914400">
              <a:lnSpc>
                <a:spcPts val="1500"/>
              </a:lnSpc>
              <a:tabLst>
                <a:tab algn="l" pos="0"/>
              </a:tabLst>
            </a:pPr>
            <a:r>
              <a:rPr lang="en-US" sz="1150" b="0" u="none" strike="noStrike">
                <a:solidFill>
                  <a:srgbClr val="5a6b78"/>
                </a:solidFill>
                <a:effectLst/>
                <a:uFillTx/>
                <a:latin typeface="Calibri"/>
                <a:ea typeface="Calibri"/>
              </a:rPr>
              <a:t>Dış paydaşlar hesap açmadan, güvenli bağlantıyla katkı verir.</a:t>
            </a:r>
            <a:endParaRPr lang="en-GB" sz="1150" b="0" u="none" strike="noStrike">
              <a:solidFill>
                <a:srgbClr val="000000"/>
              </a:solidFill>
              <a:effectLst/>
              <a:uFillTx/>
              <a:latin typeface="Arial"/>
            </a:endParaRPr>
          </a:p>
        </p:txBody>
      </p:sp>
      <p:sp>
        <p:nvSpPr>
          <p:cNvPr id="308" name="Shape 26"/>
          <p:cNvSpPr/>
          <p:nvPr/>
        </p:nvSpPr>
        <p:spPr>
          <a:xfrm>
            <a:off x="6263640" y="4343400"/>
            <a:ext cx="502560" cy="502560"/>
          </a:xfrm>
          <a:prstGeom prst="ellipse">
            <a:avLst/>
          </a:prstGeom>
          <a:solidFill>
            <a:srgbClr val="e0983e"/>
          </a:solidFill>
          <a:ln w="0">
            <a:noFill/>
          </a:ln>
        </p:spPr>
        <p:style>
          <a:lnRef idx="0"/>
          <a:fillRef idx="0"/>
          <a:effectRef idx="0"/>
          <a:fontRef idx="minor"/>
        </p:style>
        <p:txBody>
          <a:bodyPr lIns="90000" rIns="90000" tIns="45000" bIns="45000" anchor="t">
            <a:noAutofit/>
          </a:bodyPr>
          <a:p>
            <a:endParaRPr lang="en-GB" sz="1800" b="0" u="none" strike="noStrike">
              <a:solidFill>
                <a:srgbClr val="000000"/>
              </a:solidFill>
              <a:effectLst/>
              <a:uFillTx/>
              <a:latin typeface="Arial"/>
            </a:endParaRPr>
          </a:p>
        </p:txBody>
      </p:sp>
      <p:sp>
        <p:nvSpPr>
          <p:cNvPr id="309" name="Text 27"/>
          <p:cNvSpPr/>
          <p:nvPr/>
        </p:nvSpPr>
        <p:spPr>
          <a:xfrm>
            <a:off x="6263640" y="434340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600" b="1" u="none" strike="noStrike">
                <a:solidFill>
                  <a:srgbClr val="21295c"/>
                </a:solidFill>
                <a:effectLst/>
                <a:uFillTx/>
                <a:latin typeface="Cambria"/>
                <a:ea typeface="Cambria"/>
              </a:rPr>
              <a:t>7</a:t>
            </a:r>
            <a:endParaRPr lang="en-GB" sz="1600" b="0" u="none" strike="noStrike">
              <a:solidFill>
                <a:srgbClr val="000000"/>
              </a:solidFill>
              <a:effectLst/>
              <a:uFillTx/>
              <a:latin typeface="Arial"/>
            </a:endParaRPr>
          </a:p>
        </p:txBody>
      </p:sp>
      <p:sp>
        <p:nvSpPr>
          <p:cNvPr id="310" name="Text 28"/>
          <p:cNvSpPr/>
          <p:nvPr/>
        </p:nvSpPr>
        <p:spPr>
          <a:xfrm>
            <a:off x="6949440" y="4297680"/>
            <a:ext cx="46630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50" b="1" u="none" strike="noStrike">
                <a:solidFill>
                  <a:srgbClr val="21295c"/>
                </a:solidFill>
                <a:effectLst/>
                <a:uFillTx/>
                <a:latin typeface="Cambria"/>
                <a:ea typeface="Cambria"/>
              </a:rPr>
              <a:t>Veri Egemenliği</a:t>
            </a:r>
            <a:endParaRPr lang="en-GB" sz="1450" b="0" u="none" strike="noStrike">
              <a:solidFill>
                <a:srgbClr val="000000"/>
              </a:solidFill>
              <a:effectLst/>
              <a:uFillTx/>
              <a:latin typeface="Arial"/>
            </a:endParaRPr>
          </a:p>
        </p:txBody>
      </p:sp>
      <p:sp>
        <p:nvSpPr>
          <p:cNvPr id="311" name="Text 29"/>
          <p:cNvSpPr/>
          <p:nvPr/>
        </p:nvSpPr>
        <p:spPr>
          <a:xfrm>
            <a:off x="6949440" y="4681800"/>
            <a:ext cx="4663080" cy="776880"/>
          </a:xfrm>
          <a:prstGeom prst="rect">
            <a:avLst/>
          </a:prstGeom>
          <a:noFill/>
          <a:ln w="0">
            <a:noFill/>
          </a:ln>
        </p:spPr>
        <p:style>
          <a:lnRef idx="0"/>
          <a:fillRef idx="0"/>
          <a:effectRef idx="0"/>
          <a:fontRef idx="minor"/>
        </p:style>
        <p:txBody>
          <a:bodyPr lIns="0" rIns="0" tIns="0" bIns="0" anchor="ctr">
            <a:noAutofit/>
          </a:bodyPr>
          <a:p>
            <a:pPr defTabSz="914400">
              <a:lnSpc>
                <a:spcPts val="1500"/>
              </a:lnSpc>
              <a:tabLst>
                <a:tab algn="l" pos="0"/>
              </a:tabLst>
            </a:pPr>
            <a:r>
              <a:rPr lang="en-US" sz="1150" b="0" u="none" strike="noStrike">
                <a:solidFill>
                  <a:srgbClr val="5a6b78"/>
                </a:solidFill>
                <a:effectLst/>
                <a:uFillTx/>
                <a:latin typeface="Calibri"/>
                <a:ea typeface="Calibri"/>
              </a:rPr>
              <a:t>Kendi altyapınızda barındırılabilir; SaaS'a kilitlenmez.</a:t>
            </a:r>
            <a:endParaRPr lang="en-GB"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2" name="Text 0"/>
          <p:cNvSpPr/>
          <p:nvPr/>
        </p:nvSpPr>
        <p:spPr>
          <a:xfrm>
            <a:off x="548640" y="164520"/>
            <a:ext cx="91436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pc="201" strike="noStrike">
                <a:solidFill>
                  <a:srgbClr val="1c7293"/>
                </a:solidFill>
                <a:effectLst/>
                <a:uFillTx/>
                <a:latin typeface="Calibri"/>
                <a:ea typeface="Calibri"/>
              </a:rPr>
              <a:t>ÖRNEK AKIŞ</a:t>
            </a:r>
            <a:endParaRPr lang="en-GB" sz="1200" b="0" u="none" strike="noStrike">
              <a:solidFill>
                <a:srgbClr val="000000"/>
              </a:solidFill>
              <a:effectLst/>
              <a:uFillTx/>
              <a:latin typeface="Arial"/>
            </a:endParaRPr>
          </a:p>
        </p:txBody>
      </p:sp>
      <p:sp>
        <p:nvSpPr>
          <p:cNvPr id="313" name="Text 1"/>
          <p:cNvSpPr/>
          <p:nvPr/>
        </p:nvSpPr>
        <p:spPr>
          <a:xfrm>
            <a:off x="548640" y="411480"/>
            <a:ext cx="110638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200" b="1" u="none" strike="noStrike">
                <a:solidFill>
                  <a:srgbClr val="21295c"/>
                </a:solidFill>
                <a:effectLst/>
                <a:uFillTx/>
                <a:latin typeface="Cambria"/>
                <a:ea typeface="Cambria"/>
              </a:rPr>
              <a:t>Firma Tanımından Rapora: Uçtan Uca</a:t>
            </a:r>
            <a:endParaRPr lang="en-GB" sz="3200" b="0" u="none" strike="noStrike">
              <a:solidFill>
                <a:srgbClr val="000000"/>
              </a:solidFill>
              <a:effectLst/>
              <a:uFillTx/>
              <a:latin typeface="Arial"/>
            </a:endParaRPr>
          </a:p>
        </p:txBody>
      </p:sp>
      <p:sp>
        <p:nvSpPr>
          <p:cNvPr id="314" name="Shape 2"/>
          <p:cNvSpPr/>
          <p:nvPr/>
        </p:nvSpPr>
        <p:spPr>
          <a:xfrm>
            <a:off x="960120" y="1645920"/>
            <a:ext cx="360" cy="3949920"/>
          </a:xfrm>
          <a:prstGeom prst="line">
            <a:avLst/>
          </a:prstGeom>
          <a:ln w="25400">
            <a:solidFill>
              <a:srgbClr val="d7e2ea"/>
            </a:solidFill>
            <a:round/>
          </a:ln>
        </p:spPr>
        <p:style>
          <a:lnRef idx="0"/>
          <a:fillRef idx="0"/>
          <a:effectRef idx="0"/>
          <a:fontRef idx="minor"/>
        </p:style>
        <p:txBody>
          <a:bodyPr lIns="90000" rIns="90000" tIns="45000" bIns="45000" anchor="t" anchorCtr="1">
            <a:noAutofit/>
          </a:bodyPr>
          <a:p>
            <a:endParaRPr lang="en-GB" sz="1800" b="0" u="none" strike="noStrike">
              <a:solidFill>
                <a:srgbClr val="000000"/>
              </a:solidFill>
              <a:effectLst/>
              <a:uFillTx/>
              <a:latin typeface="Arial"/>
            </a:endParaRPr>
          </a:p>
        </p:txBody>
      </p:sp>
      <p:sp>
        <p:nvSpPr>
          <p:cNvPr id="315" name="Shape 3"/>
          <p:cNvSpPr/>
          <p:nvPr/>
        </p:nvSpPr>
        <p:spPr>
          <a:xfrm>
            <a:off x="685800" y="1463040"/>
            <a:ext cx="548280" cy="5482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sp>
        <p:nvSpPr>
          <p:cNvPr id="316" name="Text 4"/>
          <p:cNvSpPr/>
          <p:nvPr/>
        </p:nvSpPr>
        <p:spPr>
          <a:xfrm>
            <a:off x="685800" y="146304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600" b="1" u="none" strike="noStrike">
                <a:solidFill>
                  <a:srgbClr val="ffffff"/>
                </a:solidFill>
                <a:effectLst/>
                <a:uFillTx/>
                <a:latin typeface="Cambria"/>
                <a:ea typeface="Cambria"/>
              </a:rPr>
              <a:t>1</a:t>
            </a:r>
            <a:endParaRPr lang="en-GB" sz="1600" b="0" u="none" strike="noStrike">
              <a:solidFill>
                <a:srgbClr val="000000"/>
              </a:solidFill>
              <a:effectLst/>
              <a:uFillTx/>
              <a:latin typeface="Arial"/>
            </a:endParaRPr>
          </a:p>
        </p:txBody>
      </p:sp>
      <p:sp>
        <p:nvSpPr>
          <p:cNvPr id="317" name="Text 5"/>
          <p:cNvSpPr/>
          <p:nvPr/>
        </p:nvSpPr>
        <p:spPr>
          <a:xfrm>
            <a:off x="1463040" y="1444680"/>
            <a:ext cx="393156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00" b="1" u="none" strike="noStrike">
                <a:solidFill>
                  <a:srgbClr val="21295c"/>
                </a:solidFill>
                <a:effectLst/>
                <a:uFillTx/>
                <a:latin typeface="Cambria"/>
                <a:ea typeface="Cambria"/>
              </a:rPr>
              <a:t>Firma tanımlanır</a:t>
            </a:r>
            <a:endParaRPr lang="en-GB" sz="1400" b="0" u="none" strike="noStrike">
              <a:solidFill>
                <a:srgbClr val="000000"/>
              </a:solidFill>
              <a:effectLst/>
              <a:uFillTx/>
              <a:latin typeface="Arial"/>
            </a:endParaRPr>
          </a:p>
        </p:txBody>
      </p:sp>
      <p:sp>
        <p:nvSpPr>
          <p:cNvPr id="318" name="Text 6"/>
          <p:cNvSpPr/>
          <p:nvPr/>
        </p:nvSpPr>
        <p:spPr>
          <a:xfrm>
            <a:off x="5486400" y="1444680"/>
            <a:ext cx="6126120" cy="548280"/>
          </a:xfrm>
          <a:prstGeom prst="rect">
            <a:avLst/>
          </a:prstGeom>
          <a:noFill/>
          <a:ln w="0">
            <a:noFill/>
          </a:ln>
        </p:spPr>
        <p:style>
          <a:lnRef idx="0"/>
          <a:fillRef idx="0"/>
          <a:effectRef idx="0"/>
          <a:fontRef idx="minor"/>
        </p:style>
        <p:txBody>
          <a:bodyPr lIns="0" rIns="0" tIns="0" bIns="0" anchor="ctr">
            <a:noAutofit/>
          </a:bodyPr>
          <a:p>
            <a:pPr defTabSz="914400">
              <a:lnSpc>
                <a:spcPts val="1400"/>
              </a:lnSpc>
              <a:tabLst>
                <a:tab algn="l" pos="0"/>
              </a:tabLst>
            </a:pPr>
            <a:r>
              <a:rPr lang="en-US" sz="1150" b="0" u="none" strike="noStrike">
                <a:solidFill>
                  <a:srgbClr val="5a6b78"/>
                </a:solidFill>
                <a:effectLst/>
                <a:uFillTx/>
                <a:latin typeface="Calibri"/>
                <a:ea typeface="Calibri"/>
              </a:rPr>
              <a:t>Müşteri şirket, şubeleri, sektörü ve çerçeveleri girilir.</a:t>
            </a:r>
            <a:endParaRPr lang="en-GB" sz="1150" b="0" u="none" strike="noStrike">
              <a:solidFill>
                <a:srgbClr val="000000"/>
              </a:solidFill>
              <a:effectLst/>
              <a:uFillTx/>
              <a:latin typeface="Arial"/>
            </a:endParaRPr>
          </a:p>
        </p:txBody>
      </p:sp>
      <p:sp>
        <p:nvSpPr>
          <p:cNvPr id="319" name="Shape 7"/>
          <p:cNvSpPr/>
          <p:nvPr/>
        </p:nvSpPr>
        <p:spPr>
          <a:xfrm>
            <a:off x="685800" y="2121480"/>
            <a:ext cx="548280" cy="54828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sp>
        <p:nvSpPr>
          <p:cNvPr id="320" name="Text 8"/>
          <p:cNvSpPr/>
          <p:nvPr/>
        </p:nvSpPr>
        <p:spPr>
          <a:xfrm>
            <a:off x="685800" y="212148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600" b="1" u="none" strike="noStrike">
                <a:solidFill>
                  <a:srgbClr val="ffffff"/>
                </a:solidFill>
                <a:effectLst/>
                <a:uFillTx/>
                <a:latin typeface="Cambria"/>
                <a:ea typeface="Cambria"/>
              </a:rPr>
              <a:t>2</a:t>
            </a:r>
            <a:endParaRPr lang="en-GB" sz="1600" b="0" u="none" strike="noStrike">
              <a:solidFill>
                <a:srgbClr val="000000"/>
              </a:solidFill>
              <a:effectLst/>
              <a:uFillTx/>
              <a:latin typeface="Arial"/>
            </a:endParaRPr>
          </a:p>
        </p:txBody>
      </p:sp>
      <p:sp>
        <p:nvSpPr>
          <p:cNvPr id="321" name="Text 9"/>
          <p:cNvSpPr/>
          <p:nvPr/>
        </p:nvSpPr>
        <p:spPr>
          <a:xfrm>
            <a:off x="1463040" y="2103120"/>
            <a:ext cx="393156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00" b="1" u="none" strike="noStrike">
                <a:solidFill>
                  <a:srgbClr val="21295c"/>
                </a:solidFill>
                <a:effectLst/>
                <a:uFillTx/>
                <a:latin typeface="Cambria"/>
                <a:ea typeface="Cambria"/>
              </a:rPr>
              <a:t>Önemlilik belirlenir</a:t>
            </a:r>
            <a:endParaRPr lang="en-GB" sz="1400" b="0" u="none" strike="noStrike">
              <a:solidFill>
                <a:srgbClr val="000000"/>
              </a:solidFill>
              <a:effectLst/>
              <a:uFillTx/>
              <a:latin typeface="Arial"/>
            </a:endParaRPr>
          </a:p>
        </p:txBody>
      </p:sp>
      <p:sp>
        <p:nvSpPr>
          <p:cNvPr id="322" name="Text 10"/>
          <p:cNvSpPr/>
          <p:nvPr/>
        </p:nvSpPr>
        <p:spPr>
          <a:xfrm>
            <a:off x="5486400" y="2103120"/>
            <a:ext cx="6126120" cy="548280"/>
          </a:xfrm>
          <a:prstGeom prst="rect">
            <a:avLst/>
          </a:prstGeom>
          <a:noFill/>
          <a:ln w="0">
            <a:noFill/>
          </a:ln>
        </p:spPr>
        <p:style>
          <a:lnRef idx="0"/>
          <a:fillRef idx="0"/>
          <a:effectRef idx="0"/>
          <a:fontRef idx="minor"/>
        </p:style>
        <p:txBody>
          <a:bodyPr lIns="0" rIns="0" tIns="0" bIns="0" anchor="ctr">
            <a:noAutofit/>
          </a:bodyPr>
          <a:p>
            <a:pPr defTabSz="914400">
              <a:lnSpc>
                <a:spcPts val="1400"/>
              </a:lnSpc>
              <a:tabLst>
                <a:tab algn="l" pos="0"/>
              </a:tabLst>
            </a:pPr>
            <a:r>
              <a:rPr lang="en-US" sz="1150" b="0" u="none" strike="noStrike">
                <a:solidFill>
                  <a:srgbClr val="5a6b78"/>
                </a:solidFill>
                <a:effectLst/>
                <a:uFillTx/>
                <a:latin typeface="Calibri"/>
                <a:ea typeface="Calibri"/>
              </a:rPr>
              <a:t>DMA ve/veya paydaş anketleriyle önemli konular ortaya çıkar.</a:t>
            </a:r>
            <a:endParaRPr lang="en-GB" sz="1150" b="0" u="none" strike="noStrike">
              <a:solidFill>
                <a:srgbClr val="000000"/>
              </a:solidFill>
              <a:effectLst/>
              <a:uFillTx/>
              <a:latin typeface="Arial"/>
            </a:endParaRPr>
          </a:p>
        </p:txBody>
      </p:sp>
      <p:sp>
        <p:nvSpPr>
          <p:cNvPr id="323" name="Shape 11"/>
          <p:cNvSpPr/>
          <p:nvPr/>
        </p:nvSpPr>
        <p:spPr>
          <a:xfrm>
            <a:off x="685800" y="2779920"/>
            <a:ext cx="548280" cy="5482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sp>
        <p:nvSpPr>
          <p:cNvPr id="324" name="Text 12"/>
          <p:cNvSpPr/>
          <p:nvPr/>
        </p:nvSpPr>
        <p:spPr>
          <a:xfrm>
            <a:off x="685800" y="277992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600" b="1" u="none" strike="noStrike">
                <a:solidFill>
                  <a:srgbClr val="ffffff"/>
                </a:solidFill>
                <a:effectLst/>
                <a:uFillTx/>
                <a:latin typeface="Cambria"/>
                <a:ea typeface="Cambria"/>
              </a:rPr>
              <a:t>3</a:t>
            </a:r>
            <a:endParaRPr lang="en-GB" sz="1600" b="0" u="none" strike="noStrike">
              <a:solidFill>
                <a:srgbClr val="000000"/>
              </a:solidFill>
              <a:effectLst/>
              <a:uFillTx/>
              <a:latin typeface="Arial"/>
            </a:endParaRPr>
          </a:p>
        </p:txBody>
      </p:sp>
      <p:sp>
        <p:nvSpPr>
          <p:cNvPr id="325" name="Text 13"/>
          <p:cNvSpPr/>
          <p:nvPr/>
        </p:nvSpPr>
        <p:spPr>
          <a:xfrm>
            <a:off x="1463040" y="2761560"/>
            <a:ext cx="393156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00" b="1" u="none" strike="noStrike">
                <a:solidFill>
                  <a:srgbClr val="21295c"/>
                </a:solidFill>
                <a:effectLst/>
                <a:uFillTx/>
                <a:latin typeface="Cambria"/>
                <a:ea typeface="Cambria"/>
              </a:rPr>
              <a:t>Proje kurulur</a:t>
            </a:r>
            <a:endParaRPr lang="en-GB" sz="1400" b="0" u="none" strike="noStrike">
              <a:solidFill>
                <a:srgbClr val="000000"/>
              </a:solidFill>
              <a:effectLst/>
              <a:uFillTx/>
              <a:latin typeface="Arial"/>
            </a:endParaRPr>
          </a:p>
        </p:txBody>
      </p:sp>
      <p:sp>
        <p:nvSpPr>
          <p:cNvPr id="326" name="Text 14"/>
          <p:cNvSpPr/>
          <p:nvPr/>
        </p:nvSpPr>
        <p:spPr>
          <a:xfrm>
            <a:off x="5486400" y="2761560"/>
            <a:ext cx="6126120" cy="548280"/>
          </a:xfrm>
          <a:prstGeom prst="rect">
            <a:avLst/>
          </a:prstGeom>
          <a:noFill/>
          <a:ln w="0">
            <a:noFill/>
          </a:ln>
        </p:spPr>
        <p:style>
          <a:lnRef idx="0"/>
          <a:fillRef idx="0"/>
          <a:effectRef idx="0"/>
          <a:fontRef idx="minor"/>
        </p:style>
        <p:txBody>
          <a:bodyPr lIns="0" rIns="0" tIns="0" bIns="0" anchor="ctr">
            <a:noAutofit/>
          </a:bodyPr>
          <a:p>
            <a:pPr defTabSz="914400">
              <a:lnSpc>
                <a:spcPts val="1400"/>
              </a:lnSpc>
              <a:tabLst>
                <a:tab algn="l" pos="0"/>
              </a:tabLst>
            </a:pPr>
            <a:r>
              <a:rPr lang="en-US" sz="1150" b="0" u="none" strike="noStrike">
                <a:solidFill>
                  <a:srgbClr val="5a6b78"/>
                </a:solidFill>
                <a:effectLst/>
                <a:uFillTx/>
                <a:latin typeface="Calibri"/>
                <a:ea typeface="Calibri"/>
              </a:rPr>
              <a:t>Önemli konular otomatik olarak soru setine dâhil edilir.</a:t>
            </a:r>
            <a:endParaRPr lang="en-GB" sz="1150" b="0" u="none" strike="noStrike">
              <a:solidFill>
                <a:srgbClr val="000000"/>
              </a:solidFill>
              <a:effectLst/>
              <a:uFillTx/>
              <a:latin typeface="Arial"/>
            </a:endParaRPr>
          </a:p>
        </p:txBody>
      </p:sp>
      <p:sp>
        <p:nvSpPr>
          <p:cNvPr id="327" name="Shape 15"/>
          <p:cNvSpPr/>
          <p:nvPr/>
        </p:nvSpPr>
        <p:spPr>
          <a:xfrm>
            <a:off x="685800" y="3438000"/>
            <a:ext cx="548280" cy="54828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sp>
        <p:nvSpPr>
          <p:cNvPr id="328" name="Text 16"/>
          <p:cNvSpPr/>
          <p:nvPr/>
        </p:nvSpPr>
        <p:spPr>
          <a:xfrm>
            <a:off x="685800" y="343800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600" b="1" u="none" strike="noStrike">
                <a:solidFill>
                  <a:srgbClr val="ffffff"/>
                </a:solidFill>
                <a:effectLst/>
                <a:uFillTx/>
                <a:latin typeface="Cambria"/>
                <a:ea typeface="Cambria"/>
              </a:rPr>
              <a:t>4</a:t>
            </a:r>
            <a:endParaRPr lang="en-GB" sz="1600" b="0" u="none" strike="noStrike">
              <a:solidFill>
                <a:srgbClr val="000000"/>
              </a:solidFill>
              <a:effectLst/>
              <a:uFillTx/>
              <a:latin typeface="Arial"/>
            </a:endParaRPr>
          </a:p>
        </p:txBody>
      </p:sp>
      <p:sp>
        <p:nvSpPr>
          <p:cNvPr id="329" name="Text 17"/>
          <p:cNvSpPr/>
          <p:nvPr/>
        </p:nvSpPr>
        <p:spPr>
          <a:xfrm>
            <a:off x="1463040" y="3420000"/>
            <a:ext cx="393156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00" b="1" u="none" strike="noStrike">
                <a:solidFill>
                  <a:srgbClr val="21295c"/>
                </a:solidFill>
                <a:effectLst/>
                <a:uFillTx/>
                <a:latin typeface="Cambria"/>
                <a:ea typeface="Cambria"/>
              </a:rPr>
              <a:t>Veri toplanır</a:t>
            </a:r>
            <a:endParaRPr lang="en-GB" sz="1400" b="0" u="none" strike="noStrike">
              <a:solidFill>
                <a:srgbClr val="000000"/>
              </a:solidFill>
              <a:effectLst/>
              <a:uFillTx/>
              <a:latin typeface="Arial"/>
            </a:endParaRPr>
          </a:p>
        </p:txBody>
      </p:sp>
      <p:sp>
        <p:nvSpPr>
          <p:cNvPr id="330" name="Text 18"/>
          <p:cNvSpPr/>
          <p:nvPr/>
        </p:nvSpPr>
        <p:spPr>
          <a:xfrm>
            <a:off x="5486400" y="3420000"/>
            <a:ext cx="6126120" cy="548280"/>
          </a:xfrm>
          <a:prstGeom prst="rect">
            <a:avLst/>
          </a:prstGeom>
          <a:noFill/>
          <a:ln w="0">
            <a:noFill/>
          </a:ln>
        </p:spPr>
        <p:style>
          <a:lnRef idx="0"/>
          <a:fillRef idx="0"/>
          <a:effectRef idx="0"/>
          <a:fontRef idx="minor"/>
        </p:style>
        <p:txBody>
          <a:bodyPr lIns="0" rIns="0" tIns="0" bIns="0" anchor="ctr">
            <a:noAutofit/>
          </a:bodyPr>
          <a:p>
            <a:pPr defTabSz="914400">
              <a:lnSpc>
                <a:spcPts val="1400"/>
              </a:lnSpc>
              <a:tabLst>
                <a:tab algn="l" pos="0"/>
              </a:tabLst>
            </a:pPr>
            <a:r>
              <a:rPr lang="en-US" sz="1150" b="0" u="none" strike="noStrike">
                <a:solidFill>
                  <a:srgbClr val="5a6b78"/>
                </a:solidFill>
                <a:effectLst/>
                <a:uFillTx/>
                <a:latin typeface="Calibri"/>
                <a:ea typeface="Calibri"/>
              </a:rPr>
              <a:t>Sorular ekip üyelerine ve dış paydaşlara atanır; yapay zeka öneri sunar.</a:t>
            </a:r>
            <a:endParaRPr lang="en-GB" sz="1150" b="0" u="none" strike="noStrike">
              <a:solidFill>
                <a:srgbClr val="000000"/>
              </a:solidFill>
              <a:effectLst/>
              <a:uFillTx/>
              <a:latin typeface="Arial"/>
            </a:endParaRPr>
          </a:p>
        </p:txBody>
      </p:sp>
      <p:sp>
        <p:nvSpPr>
          <p:cNvPr id="331" name="Shape 19"/>
          <p:cNvSpPr/>
          <p:nvPr/>
        </p:nvSpPr>
        <p:spPr>
          <a:xfrm>
            <a:off x="685800" y="4096440"/>
            <a:ext cx="548280" cy="5482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sp>
        <p:nvSpPr>
          <p:cNvPr id="332" name="Text 20"/>
          <p:cNvSpPr/>
          <p:nvPr/>
        </p:nvSpPr>
        <p:spPr>
          <a:xfrm>
            <a:off x="685800" y="409644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600" b="1" u="none" strike="noStrike">
                <a:solidFill>
                  <a:srgbClr val="ffffff"/>
                </a:solidFill>
                <a:effectLst/>
                <a:uFillTx/>
                <a:latin typeface="Cambria"/>
                <a:ea typeface="Cambria"/>
              </a:rPr>
              <a:t>5</a:t>
            </a:r>
            <a:endParaRPr lang="en-GB" sz="1600" b="0" u="none" strike="noStrike">
              <a:solidFill>
                <a:srgbClr val="000000"/>
              </a:solidFill>
              <a:effectLst/>
              <a:uFillTx/>
              <a:latin typeface="Arial"/>
            </a:endParaRPr>
          </a:p>
        </p:txBody>
      </p:sp>
      <p:sp>
        <p:nvSpPr>
          <p:cNvPr id="333" name="Text 21"/>
          <p:cNvSpPr/>
          <p:nvPr/>
        </p:nvSpPr>
        <p:spPr>
          <a:xfrm>
            <a:off x="1463040" y="4078080"/>
            <a:ext cx="393156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00" b="1" u="none" strike="noStrike">
                <a:solidFill>
                  <a:srgbClr val="21295c"/>
                </a:solidFill>
                <a:effectLst/>
                <a:uFillTx/>
                <a:latin typeface="Cambria"/>
                <a:ea typeface="Cambria"/>
              </a:rPr>
              <a:t>Emisyon ve metrikler hesaplanır</a:t>
            </a:r>
            <a:endParaRPr lang="en-GB" sz="1400" b="0" u="none" strike="noStrike">
              <a:solidFill>
                <a:srgbClr val="000000"/>
              </a:solidFill>
              <a:effectLst/>
              <a:uFillTx/>
              <a:latin typeface="Arial"/>
            </a:endParaRPr>
          </a:p>
        </p:txBody>
      </p:sp>
      <p:sp>
        <p:nvSpPr>
          <p:cNvPr id="334" name="Text 22"/>
          <p:cNvSpPr/>
          <p:nvPr/>
        </p:nvSpPr>
        <p:spPr>
          <a:xfrm>
            <a:off x="5486400" y="4078080"/>
            <a:ext cx="6126120" cy="548280"/>
          </a:xfrm>
          <a:prstGeom prst="rect">
            <a:avLst/>
          </a:prstGeom>
          <a:noFill/>
          <a:ln w="0">
            <a:noFill/>
          </a:ln>
        </p:spPr>
        <p:style>
          <a:lnRef idx="0"/>
          <a:fillRef idx="0"/>
          <a:effectRef idx="0"/>
          <a:fontRef idx="minor"/>
        </p:style>
        <p:txBody>
          <a:bodyPr lIns="0" rIns="0" tIns="0" bIns="0" anchor="ctr">
            <a:noAutofit/>
          </a:bodyPr>
          <a:p>
            <a:pPr defTabSz="914400">
              <a:lnSpc>
                <a:spcPts val="1400"/>
              </a:lnSpc>
              <a:tabLst>
                <a:tab algn="l" pos="0"/>
              </a:tabLst>
            </a:pPr>
            <a:r>
              <a:rPr lang="en-US" sz="1150" b="0" u="none" strike="noStrike">
                <a:solidFill>
                  <a:srgbClr val="5a6b78"/>
                </a:solidFill>
                <a:effectLst/>
                <a:uFillTx/>
                <a:latin typeface="Calibri"/>
                <a:ea typeface="Calibri"/>
              </a:rPr>
              <a:t>Kapsam 1–3 ve onay akışı.</a:t>
            </a:r>
            <a:endParaRPr lang="en-GB" sz="1150" b="0" u="none" strike="noStrike">
              <a:solidFill>
                <a:srgbClr val="000000"/>
              </a:solidFill>
              <a:effectLst/>
              <a:uFillTx/>
              <a:latin typeface="Arial"/>
            </a:endParaRPr>
          </a:p>
        </p:txBody>
      </p:sp>
      <p:sp>
        <p:nvSpPr>
          <p:cNvPr id="335" name="Shape 23"/>
          <p:cNvSpPr/>
          <p:nvPr/>
        </p:nvSpPr>
        <p:spPr>
          <a:xfrm>
            <a:off x="685800" y="4754880"/>
            <a:ext cx="548280" cy="548280"/>
          </a:xfrm>
          <a:prstGeom prst="ellipse">
            <a:avLst/>
          </a:prstGeom>
          <a:solidFill>
            <a:srgbClr val="1c7293"/>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sp>
        <p:nvSpPr>
          <p:cNvPr id="336" name="Text 24"/>
          <p:cNvSpPr/>
          <p:nvPr/>
        </p:nvSpPr>
        <p:spPr>
          <a:xfrm>
            <a:off x="685800" y="475488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600" b="1" u="none" strike="noStrike">
                <a:solidFill>
                  <a:srgbClr val="ffffff"/>
                </a:solidFill>
                <a:effectLst/>
                <a:uFillTx/>
                <a:latin typeface="Cambria"/>
                <a:ea typeface="Cambria"/>
              </a:rPr>
              <a:t>6</a:t>
            </a:r>
            <a:endParaRPr lang="en-GB" sz="1600" b="0" u="none" strike="noStrike">
              <a:solidFill>
                <a:srgbClr val="000000"/>
              </a:solidFill>
              <a:effectLst/>
              <a:uFillTx/>
              <a:latin typeface="Arial"/>
            </a:endParaRPr>
          </a:p>
        </p:txBody>
      </p:sp>
      <p:sp>
        <p:nvSpPr>
          <p:cNvPr id="337" name="Text 25"/>
          <p:cNvSpPr/>
          <p:nvPr/>
        </p:nvSpPr>
        <p:spPr>
          <a:xfrm>
            <a:off x="1463040" y="4736520"/>
            <a:ext cx="393156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00" b="1" u="none" strike="noStrike">
                <a:solidFill>
                  <a:srgbClr val="21295c"/>
                </a:solidFill>
                <a:effectLst/>
                <a:uFillTx/>
                <a:latin typeface="Cambria"/>
                <a:ea typeface="Cambria"/>
              </a:rPr>
              <a:t>Uyum kontrol edilir</a:t>
            </a:r>
            <a:endParaRPr lang="en-GB" sz="1400" b="0" u="none" strike="noStrike">
              <a:solidFill>
                <a:srgbClr val="000000"/>
              </a:solidFill>
              <a:effectLst/>
              <a:uFillTx/>
              <a:latin typeface="Arial"/>
            </a:endParaRPr>
          </a:p>
        </p:txBody>
      </p:sp>
      <p:sp>
        <p:nvSpPr>
          <p:cNvPr id="338" name="Text 26"/>
          <p:cNvSpPr/>
          <p:nvPr/>
        </p:nvSpPr>
        <p:spPr>
          <a:xfrm>
            <a:off x="5486400" y="4736520"/>
            <a:ext cx="6126120" cy="548280"/>
          </a:xfrm>
          <a:prstGeom prst="rect">
            <a:avLst/>
          </a:prstGeom>
          <a:noFill/>
          <a:ln w="0">
            <a:noFill/>
          </a:ln>
        </p:spPr>
        <p:style>
          <a:lnRef idx="0"/>
          <a:fillRef idx="0"/>
          <a:effectRef idx="0"/>
          <a:fontRef idx="minor"/>
        </p:style>
        <p:txBody>
          <a:bodyPr lIns="0" rIns="0" tIns="0" bIns="0" anchor="ctr">
            <a:noAutofit/>
          </a:bodyPr>
          <a:p>
            <a:pPr defTabSz="914400">
              <a:lnSpc>
                <a:spcPts val="1400"/>
              </a:lnSpc>
              <a:tabLst>
                <a:tab algn="l" pos="0"/>
              </a:tabLst>
            </a:pPr>
            <a:r>
              <a:rPr lang="en-US" sz="1150" b="0" u="none" strike="noStrike">
                <a:solidFill>
                  <a:srgbClr val="5a6b78"/>
                </a:solidFill>
                <a:effectLst/>
                <a:uFillTx/>
                <a:latin typeface="Calibri"/>
                <a:ea typeface="Calibri"/>
              </a:rPr>
              <a:t>Eksiklik ve çerçeveler arası tutarlılık denetimi.</a:t>
            </a:r>
            <a:endParaRPr lang="en-GB" sz="1150" b="0" u="none" strike="noStrike">
              <a:solidFill>
                <a:srgbClr val="000000"/>
              </a:solidFill>
              <a:effectLst/>
              <a:uFillTx/>
              <a:latin typeface="Arial"/>
            </a:endParaRPr>
          </a:p>
        </p:txBody>
      </p:sp>
      <p:sp>
        <p:nvSpPr>
          <p:cNvPr id="339" name="Shape 27"/>
          <p:cNvSpPr/>
          <p:nvPr/>
        </p:nvSpPr>
        <p:spPr>
          <a:xfrm>
            <a:off x="685800" y="5413320"/>
            <a:ext cx="548280" cy="548280"/>
          </a:xfrm>
          <a:prstGeom prst="ellipse">
            <a:avLst/>
          </a:prstGeom>
          <a:solidFill>
            <a:srgbClr val="065a82"/>
          </a:solidFill>
          <a:ln w="0">
            <a:noFill/>
          </a:ln>
        </p:spPr>
        <p:style>
          <a:lnRef idx="0"/>
          <a:fillRef idx="0"/>
          <a:effectRef idx="0"/>
          <a:fontRef idx="minor"/>
        </p:style>
        <p:txBody>
          <a:bodyPr lIns="90000" rIns="90000" tIns="45000" bIns="45000" anchor="t">
            <a:noAutofit/>
          </a:bodyPr>
          <a:p>
            <a:endParaRPr lang="en-GB" sz="1800" b="0" u="none" strike="noStrike">
              <a:solidFill>
                <a:srgbClr val="ffffff"/>
              </a:solidFill>
              <a:effectLst/>
              <a:uFillTx/>
              <a:latin typeface="Arial"/>
            </a:endParaRPr>
          </a:p>
        </p:txBody>
      </p:sp>
      <p:sp>
        <p:nvSpPr>
          <p:cNvPr id="340" name="Text 28"/>
          <p:cNvSpPr/>
          <p:nvPr/>
        </p:nvSpPr>
        <p:spPr>
          <a:xfrm>
            <a:off x="685800" y="541332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600" b="1" u="none" strike="noStrike">
                <a:solidFill>
                  <a:srgbClr val="ffffff"/>
                </a:solidFill>
                <a:effectLst/>
                <a:uFillTx/>
                <a:latin typeface="Cambria"/>
                <a:ea typeface="Cambria"/>
              </a:rPr>
              <a:t>7</a:t>
            </a:r>
            <a:endParaRPr lang="en-GB" sz="1600" b="0" u="none" strike="noStrike">
              <a:solidFill>
                <a:srgbClr val="000000"/>
              </a:solidFill>
              <a:effectLst/>
              <a:uFillTx/>
              <a:latin typeface="Arial"/>
            </a:endParaRPr>
          </a:p>
        </p:txBody>
      </p:sp>
      <p:sp>
        <p:nvSpPr>
          <p:cNvPr id="341" name="Text 29"/>
          <p:cNvSpPr/>
          <p:nvPr/>
        </p:nvSpPr>
        <p:spPr>
          <a:xfrm>
            <a:off x="1463040" y="5394960"/>
            <a:ext cx="393156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00" b="1" u="none" strike="noStrike">
                <a:solidFill>
                  <a:srgbClr val="21295c"/>
                </a:solidFill>
                <a:effectLst/>
                <a:uFillTx/>
                <a:latin typeface="Cambria"/>
                <a:ea typeface="Cambria"/>
              </a:rPr>
              <a:t>Denetim ve rapor</a:t>
            </a:r>
            <a:endParaRPr lang="en-GB" sz="1400" b="0" u="none" strike="noStrike">
              <a:solidFill>
                <a:srgbClr val="000000"/>
              </a:solidFill>
              <a:effectLst/>
              <a:uFillTx/>
              <a:latin typeface="Arial"/>
            </a:endParaRPr>
          </a:p>
        </p:txBody>
      </p:sp>
      <p:sp>
        <p:nvSpPr>
          <p:cNvPr id="342" name="Text 30"/>
          <p:cNvSpPr/>
          <p:nvPr/>
        </p:nvSpPr>
        <p:spPr>
          <a:xfrm>
            <a:off x="5486400" y="5394960"/>
            <a:ext cx="6126120" cy="548280"/>
          </a:xfrm>
          <a:prstGeom prst="rect">
            <a:avLst/>
          </a:prstGeom>
          <a:noFill/>
          <a:ln w="0">
            <a:noFill/>
          </a:ln>
        </p:spPr>
        <p:style>
          <a:lnRef idx="0"/>
          <a:fillRef idx="0"/>
          <a:effectRef idx="0"/>
          <a:fontRef idx="minor"/>
        </p:style>
        <p:txBody>
          <a:bodyPr lIns="0" rIns="0" tIns="0" bIns="0" anchor="ctr">
            <a:noAutofit/>
          </a:bodyPr>
          <a:p>
            <a:pPr defTabSz="914400">
              <a:lnSpc>
                <a:spcPts val="1400"/>
              </a:lnSpc>
              <a:tabLst>
                <a:tab algn="l" pos="0"/>
              </a:tabLst>
            </a:pPr>
            <a:r>
              <a:rPr lang="en-US" sz="1150" b="0" u="none" strike="noStrike">
                <a:solidFill>
                  <a:srgbClr val="5a6b78"/>
                </a:solidFill>
                <a:effectLst/>
                <a:uFillTx/>
                <a:latin typeface="Calibri"/>
                <a:ea typeface="Calibri"/>
              </a:rPr>
              <a:t>Denetçi onayı, ardından rapor ve veri dışa aktarımı.</a:t>
            </a:r>
            <a:endParaRPr lang="en-GB"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1295c"/>
        </a:solidFill>
      </p:bgPr>
    </p:bg>
    <p:spTree>
      <p:nvGrpSpPr>
        <p:cNvPr id="1" name=""/>
        <p:cNvGrpSpPr/>
        <p:nvPr/>
      </p:nvGrpSpPr>
      <p:grpSpPr>
        <a:xfrm>
          <a:off x="0" y="0"/>
          <a:ext cx="0" cy="0"/>
          <a:chOff x="0" y="0"/>
          <a:chExt cx="0" cy="0"/>
        </a:xfrm>
      </p:grpSpPr>
      <p:pic>
        <p:nvPicPr>
          <p:cNvPr id="343" name="Image 0" descr="icons/FaQuoteLeft.png"/>
          <p:cNvPicPr/>
          <p:nvPr/>
        </p:nvPicPr>
        <p:blipFill>
          <a:blip r:embed="rId1"/>
          <a:stretch/>
        </p:blipFill>
        <p:spPr>
          <a:xfrm>
            <a:off x="640080" y="822960"/>
            <a:ext cx="548280" cy="548280"/>
          </a:xfrm>
          <a:prstGeom prst="rect">
            <a:avLst/>
          </a:prstGeom>
          <a:noFill/>
          <a:ln w="0">
            <a:noFill/>
          </a:ln>
        </p:spPr>
      </p:pic>
      <p:sp>
        <p:nvSpPr>
          <p:cNvPr id="344" name="Text 0"/>
          <p:cNvSpPr/>
          <p:nvPr/>
        </p:nvSpPr>
        <p:spPr>
          <a:xfrm>
            <a:off x="685800" y="1554480"/>
            <a:ext cx="10789560" cy="1828440"/>
          </a:xfrm>
          <a:prstGeom prst="rect">
            <a:avLst/>
          </a:prstGeom>
          <a:noFill/>
          <a:ln w="0">
            <a:noFill/>
          </a:ln>
        </p:spPr>
        <p:style>
          <a:lnRef idx="0"/>
          <a:fillRef idx="0"/>
          <a:effectRef idx="0"/>
          <a:fontRef idx="minor"/>
        </p:style>
        <p:txBody>
          <a:bodyPr lIns="0" rIns="0" tIns="0" bIns="0" anchor="ctr">
            <a:noAutofit/>
          </a:bodyPr>
          <a:p>
            <a:pPr defTabSz="914400">
              <a:lnSpc>
                <a:spcPts val="2801"/>
              </a:lnSpc>
              <a:tabLst>
                <a:tab algn="l" pos="0"/>
              </a:tabLst>
            </a:pPr>
            <a:r>
              <a:rPr lang="en-US" sz="1900" b="0" i="1" u="none" strike="noStrike">
                <a:solidFill>
                  <a:srgbClr val="cadcfc"/>
                </a:solidFill>
                <a:effectLst/>
                <a:uFillTx/>
                <a:latin typeface="Cambria"/>
                <a:ea typeface="Cambria"/>
              </a:rPr>
              <a:t>GovernanceIQ, sürdürülebilirlik danışmanlıklarının dağınık, manuel ve riskli raporlama süreçlerini; hızlı, izlenebilir ve yapay zeka destekli tek bir platforma taşır. GRI'den TSRS'ye kadar tüm önemli çerçeveleri tek çatı altında toplar, paydaşları sürece dâhil eder ve verinin kontrolünü size bırakır.</a:t>
            </a:r>
            <a:endParaRPr lang="en-GB" sz="1900" b="0" u="none" strike="noStrike">
              <a:solidFill>
                <a:srgbClr val="ffffff"/>
              </a:solidFill>
              <a:effectLst/>
              <a:uFillTx/>
              <a:latin typeface="Arial"/>
            </a:endParaRPr>
          </a:p>
        </p:txBody>
      </p:sp>
      <p:sp>
        <p:nvSpPr>
          <p:cNvPr id="345" name="Shape 1"/>
          <p:cNvSpPr/>
          <p:nvPr/>
        </p:nvSpPr>
        <p:spPr>
          <a:xfrm>
            <a:off x="685800" y="3703320"/>
            <a:ext cx="1005840" cy="360"/>
          </a:xfrm>
          <a:prstGeom prst="line">
            <a:avLst/>
          </a:prstGeom>
          <a:ln w="25400">
            <a:solidFill>
              <a:srgbClr val="e0983e"/>
            </a:solidFill>
            <a:round/>
          </a:ln>
        </p:spPr>
        <p:style>
          <a:lnRef idx="0"/>
          <a:fillRef idx="0"/>
          <a:effectRef idx="0"/>
          <a:fontRef idx="minor"/>
        </p:style>
        <p:txBody>
          <a:bodyPr lIns="90000" rIns="90000" tIns="-44640" bIns="-44640" anchor="t" anchorCtr="1">
            <a:noAutofit/>
          </a:bodyPr>
          <a:p>
            <a:endParaRPr lang="en-GB" sz="1800" b="0" u="none" strike="noStrike">
              <a:solidFill>
                <a:srgbClr val="ffffff"/>
              </a:solidFill>
              <a:effectLst/>
              <a:uFillTx/>
              <a:latin typeface="Arial"/>
            </a:endParaRPr>
          </a:p>
        </p:txBody>
      </p:sp>
      <p:sp>
        <p:nvSpPr>
          <p:cNvPr id="346" name="Text 2"/>
          <p:cNvSpPr/>
          <p:nvPr/>
        </p:nvSpPr>
        <p:spPr>
          <a:xfrm>
            <a:off x="685800" y="4023360"/>
            <a:ext cx="10515240" cy="914040"/>
          </a:xfrm>
          <a:prstGeom prst="rect">
            <a:avLst/>
          </a:prstGeom>
          <a:noFill/>
          <a:ln w="0">
            <a:noFill/>
          </a:ln>
        </p:spPr>
        <p:style>
          <a:lnRef idx="0"/>
          <a:fillRef idx="0"/>
          <a:effectRef idx="0"/>
          <a:fontRef idx="minor"/>
        </p:style>
        <p:txBody>
          <a:bodyPr lIns="0" rIns="0" tIns="0" bIns="0" anchor="ctr">
            <a:noAutofit/>
          </a:bodyPr>
          <a:p>
            <a:pPr defTabSz="914400">
              <a:lnSpc>
                <a:spcPts val="3600"/>
              </a:lnSpc>
              <a:tabLst>
                <a:tab algn="l" pos="0"/>
              </a:tabLst>
            </a:pPr>
            <a:r>
              <a:rPr lang="en-US" sz="3000" b="1" u="none" strike="noStrike">
                <a:solidFill>
                  <a:srgbClr val="ffffff"/>
                </a:solidFill>
                <a:effectLst/>
                <a:uFillTx/>
                <a:latin typeface="Cambria"/>
                <a:ea typeface="Cambria"/>
              </a:rPr>
              <a:t>Tüm müşterileriniz, tüm çerçeveleriniz, tek platform.</a:t>
            </a:r>
            <a:endParaRPr lang="en-GB" sz="3000" b="0" u="none" strike="noStrike">
              <a:solidFill>
                <a:srgbClr val="ffffff"/>
              </a:solidFill>
              <a:effectLst/>
              <a:uFillTx/>
              <a:latin typeface="Arial"/>
            </a:endParaRPr>
          </a:p>
        </p:txBody>
      </p:sp>
      <p:sp>
        <p:nvSpPr>
          <p:cNvPr id="347" name="Text 3"/>
          <p:cNvSpPr/>
          <p:nvPr/>
        </p:nvSpPr>
        <p:spPr>
          <a:xfrm>
            <a:off x="685800" y="6035040"/>
            <a:ext cx="5486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00" b="1" u="none" spc="400" strike="noStrike">
                <a:solidFill>
                  <a:srgbClr val="e0983e"/>
                </a:solidFill>
                <a:effectLst/>
                <a:uFillTx/>
                <a:latin typeface="Calibri"/>
                <a:ea typeface="Calibri"/>
              </a:rPr>
              <a:t>GOVERNANCEIQ</a:t>
            </a:r>
            <a:endParaRPr lang="en-GB"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LibreOffice/25.8.6.2$MacOSX_AARCH64 LibreOffice_project/b4b39682cd9868fa725bc664aff94278d315bd04</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2026-07-24T08:34:04Z</dcterms:created>
  <dc:creator>PptxGenJS</dc:creator>
  <dc:description/>
  <dc:language>en-GB</dc:language>
  <cp:lastModifiedBy>PptxGenJS</cp:lastModifiedBy>
  <dcterms:modified xsi:type="dcterms:W3CDTF">2026-07-24T08:34:04Z</dcterms:modified>
  <cp:revision>1</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On-screen Show (16:9)</vt:lpwstr>
  </property>
  <property fmtid="{D5CDD505-2E9C-101B-9397-08002B2CF9AE}" pid="4" name="Slides">
    <vt:i4>13</vt:i4>
  </property>
</Properties>
</file>